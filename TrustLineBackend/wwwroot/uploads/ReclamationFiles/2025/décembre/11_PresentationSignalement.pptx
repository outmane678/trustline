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  <p:sldMasterId id="2147483678" r:id="rId2"/>
    <p:sldMasterId id="2147483660" r:id="rId3"/>
  </p:sldMasterIdLst>
  <p:notesMasterIdLst>
    <p:notesMasterId r:id="rId15"/>
  </p:notesMasterIdLst>
  <p:handoutMasterIdLst>
    <p:handoutMasterId r:id="rId16"/>
  </p:handoutMasterIdLst>
  <p:sldIdLst>
    <p:sldId id="744" r:id="rId4"/>
    <p:sldId id="802" r:id="rId5"/>
    <p:sldId id="803" r:id="rId6"/>
    <p:sldId id="837" r:id="rId7"/>
    <p:sldId id="838" r:id="rId8"/>
    <p:sldId id="836" r:id="rId9"/>
    <p:sldId id="831" r:id="rId10"/>
    <p:sldId id="832" r:id="rId11"/>
    <p:sldId id="834" r:id="rId12"/>
    <p:sldId id="835" r:id="rId13"/>
    <p:sldId id="829" r:id="rId14"/>
  </p:sldIdLst>
  <p:sldSz cx="9144000" cy="6858000" type="screen4x3"/>
  <p:notesSz cx="6808788" cy="99409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orient="horz" pos="2296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pos="5602">
          <p15:clr>
            <a:srgbClr val="A4A3A4"/>
          </p15:clr>
        </p15:guide>
        <p15:guide id="5" pos="340">
          <p15:clr>
            <a:srgbClr val="A4A3A4"/>
          </p15:clr>
        </p15:guide>
        <p15:guide id="6" pos="4740">
          <p15:clr>
            <a:srgbClr val="A4A3A4"/>
          </p15:clr>
        </p15:guide>
        <p15:guide id="7" orient="horz" pos="4020">
          <p15:clr>
            <a:srgbClr val="A4A3A4"/>
          </p15:clr>
        </p15:guide>
        <p15:guide id="8" pos="55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  <p15:guide id="3" orient="horz" pos="3126" userDrawn="1">
          <p15:clr>
            <a:srgbClr val="A4A3A4"/>
          </p15:clr>
        </p15:guide>
        <p15:guide id="4" pos="2142" userDrawn="1">
          <p15:clr>
            <a:srgbClr val="A4A3A4"/>
          </p15:clr>
        </p15:guide>
        <p15:guide id="5" orient="horz" pos="3228" userDrawn="1">
          <p15:clr>
            <a:srgbClr val="A4A3A4"/>
          </p15:clr>
        </p15:guide>
        <p15:guide id="6" orient="horz" pos="3130" userDrawn="1">
          <p15:clr>
            <a:srgbClr val="A4A3A4"/>
          </p15:clr>
        </p15:guide>
        <p15:guide id="7" pos="2240" userDrawn="1">
          <p15:clr>
            <a:srgbClr val="A4A3A4"/>
          </p15:clr>
        </p15:guide>
        <p15:guide id="8" pos="214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mae" initials="A" lastIdx="2" clrIdx="0">
    <p:extLst>
      <p:ext uri="{19B8F6BF-5375-455C-9EA6-DF929625EA0E}">
        <p15:presenceInfo xmlns:p15="http://schemas.microsoft.com/office/powerpoint/2012/main" userId="Asma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E7"/>
    <a:srgbClr val="FF8F8F"/>
    <a:srgbClr val="FFC5C5"/>
    <a:srgbClr val="FFAFAF"/>
    <a:srgbClr val="BEBEBE"/>
    <a:srgbClr val="B8B8B8"/>
    <a:srgbClr val="F7F9FD"/>
    <a:srgbClr val="D02F23"/>
    <a:srgbClr val="464646"/>
    <a:srgbClr val="FB4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78F45-2621-EF1B-EC45-D71E8A6B60AF}" v="72" dt="2025-12-12T15:21:29.9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3" autoAdjust="0"/>
    <p:restoredTop sz="92857" autoAdjust="0"/>
  </p:normalViewPr>
  <p:slideViewPr>
    <p:cSldViewPr>
      <p:cViewPr varScale="1">
        <p:scale>
          <a:sx n="76" d="100"/>
          <a:sy n="76" d="100"/>
        </p:scale>
        <p:origin x="1507" y="62"/>
      </p:cViewPr>
      <p:guideLst>
        <p:guide orient="horz" pos="3748"/>
        <p:guide orient="horz" pos="2296"/>
        <p:guide orient="horz" pos="3974"/>
        <p:guide pos="5602"/>
        <p:guide pos="340"/>
        <p:guide pos="4740"/>
        <p:guide orient="horz" pos="4020"/>
        <p:guide pos="55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208" y="-108"/>
      </p:cViewPr>
      <p:guideLst>
        <p:guide orient="horz" pos="3224"/>
        <p:guide pos="2237"/>
        <p:guide orient="horz" pos="3126"/>
        <p:guide pos="2142"/>
        <p:guide orient="horz" pos="3228"/>
        <p:guide orient="horz" pos="3130"/>
        <p:guide pos="2240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5/10/relationships/revisionInfo" Target="revisionInfo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26T20:58:39.440" idx="2">
    <p:pos x="-1117" y="35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1217" cy="497603"/>
          </a:xfrm>
          <a:prstGeom prst="rect">
            <a:avLst/>
          </a:prstGeom>
        </p:spPr>
        <p:txBody>
          <a:bodyPr vert="horz" lIns="91560" tIns="45780" rIns="91560" bIns="4578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983" y="0"/>
            <a:ext cx="2951217" cy="497603"/>
          </a:xfrm>
          <a:prstGeom prst="rect">
            <a:avLst/>
          </a:prstGeom>
        </p:spPr>
        <p:txBody>
          <a:bodyPr vert="horz" lIns="91560" tIns="45780" rIns="91560" bIns="45780" rtlCol="0"/>
          <a:lstStyle>
            <a:lvl1pPr algn="r">
              <a:defRPr sz="1200"/>
            </a:lvl1pPr>
          </a:lstStyle>
          <a:p>
            <a:fld id="{CF235EE0-868D-4B33-AFE5-93B8542CA596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1735"/>
            <a:ext cx="2951217" cy="497602"/>
          </a:xfrm>
          <a:prstGeom prst="rect">
            <a:avLst/>
          </a:prstGeom>
        </p:spPr>
        <p:txBody>
          <a:bodyPr vert="horz" lIns="91560" tIns="45780" rIns="91560" bIns="4578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983" y="9441735"/>
            <a:ext cx="2951217" cy="497602"/>
          </a:xfrm>
          <a:prstGeom prst="rect">
            <a:avLst/>
          </a:prstGeom>
        </p:spPr>
        <p:txBody>
          <a:bodyPr vert="horz" lIns="91560" tIns="45780" rIns="91560" bIns="45780" rtlCol="0" anchor="b"/>
          <a:lstStyle>
            <a:lvl1pPr algn="r">
              <a:defRPr sz="1200"/>
            </a:lvl1pPr>
          </a:lstStyle>
          <a:p>
            <a:fld id="{DAC1DA9C-F856-4CEE-BFDB-4E01023A7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1798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2950475" cy="497046"/>
          </a:xfrm>
          <a:prstGeom prst="rect">
            <a:avLst/>
          </a:prstGeom>
        </p:spPr>
        <p:txBody>
          <a:bodyPr vert="horz" lIns="91552" tIns="45776" rIns="91552" bIns="45776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41" y="3"/>
            <a:ext cx="2950475" cy="497046"/>
          </a:xfrm>
          <a:prstGeom prst="rect">
            <a:avLst/>
          </a:prstGeom>
        </p:spPr>
        <p:txBody>
          <a:bodyPr vert="horz" lIns="91552" tIns="45776" rIns="91552" bIns="45776" rtlCol="0"/>
          <a:lstStyle>
            <a:lvl1pPr algn="r">
              <a:defRPr sz="1200"/>
            </a:lvl1pPr>
          </a:lstStyle>
          <a:p>
            <a:fld id="{F1CFE596-EC92-4F9C-9DAB-D0D14A339AFA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70462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2" tIns="45776" rIns="91552" bIns="45776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80" y="4721942"/>
            <a:ext cx="5447030" cy="4473416"/>
          </a:xfrm>
          <a:prstGeom prst="rect">
            <a:avLst/>
          </a:prstGeom>
        </p:spPr>
        <p:txBody>
          <a:bodyPr vert="horz" lIns="91552" tIns="45776" rIns="91552" bIns="4577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42156"/>
            <a:ext cx="2950475" cy="497046"/>
          </a:xfrm>
          <a:prstGeom prst="rect">
            <a:avLst/>
          </a:prstGeom>
        </p:spPr>
        <p:txBody>
          <a:bodyPr vert="horz" lIns="91552" tIns="45776" rIns="91552" bIns="45776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41" y="9442156"/>
            <a:ext cx="2950475" cy="497046"/>
          </a:xfrm>
          <a:prstGeom prst="rect">
            <a:avLst/>
          </a:prstGeom>
        </p:spPr>
        <p:txBody>
          <a:bodyPr vert="horz" lIns="91552" tIns="45776" rIns="91552" bIns="45776" rtlCol="0" anchor="b"/>
          <a:lstStyle>
            <a:lvl1pPr algn="r">
              <a:defRPr sz="1200"/>
            </a:lvl1pPr>
          </a:lstStyle>
          <a:p>
            <a:fld id="{0E70BA0D-E3D6-4273-B43F-ECEFB7D0F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8365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0BA0D-E3D6-4273-B43F-ECEFB7D0F26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0500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Sans plus tarder, entrons dans le vif du sujet ! </a:t>
            </a:r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0BA0D-E3D6-4273-B43F-ECEFB7D0F26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29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Fini les tâches chronophages</a:t>
            </a:r>
          </a:p>
          <a:p>
            <a:r>
              <a:rPr lang="fr-FR" dirty="0"/>
              <a:t>Plus de productivité</a:t>
            </a:r>
          </a:p>
          <a:p>
            <a:r>
              <a:rPr lang="fr-FR" dirty="0"/>
              <a:t>Un suivi en temps réel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0BA0D-E3D6-4273-B43F-ECEFB7D0F26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538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EB75D-3701-7515-4033-BE5CB81E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902A84-E766-6755-596B-B87B61A53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F6A81D1-B36B-55BD-8D79-D83E292ED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E7DF52-D273-2D92-72E5-CBE3956EA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0BA0D-E3D6-4273-B43F-ECEFB7D0F267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0677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0BA0D-E3D6-4273-B43F-ECEFB7D0F26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103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15"/>
          <p:cNvGrpSpPr/>
          <p:nvPr userDrawn="1"/>
        </p:nvGrpSpPr>
        <p:grpSpPr>
          <a:xfrm>
            <a:off x="2302934" y="232357"/>
            <a:ext cx="6307666" cy="1173906"/>
            <a:chOff x="2327855" y="104562"/>
            <a:chExt cx="6238686" cy="1236879"/>
          </a:xfrm>
          <a:solidFill>
            <a:schemeClr val="bg1"/>
          </a:solidFill>
        </p:grpSpPr>
        <p:sp>
          <p:nvSpPr>
            <p:cNvPr id="5" name="Trapèze 17"/>
            <p:cNvSpPr/>
            <p:nvPr/>
          </p:nvSpPr>
          <p:spPr>
            <a:xfrm rot="5400000">
              <a:off x="2556961" y="-124544"/>
              <a:ext cx="1236879" cy="1695091"/>
            </a:xfrm>
            <a:prstGeom prst="trapezoid">
              <a:avLst>
                <a:gd name="adj" fmla="val 10626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" name="Trapèze 19"/>
            <p:cNvSpPr/>
            <p:nvPr/>
          </p:nvSpPr>
          <p:spPr>
            <a:xfrm rot="16200000">
              <a:off x="7100556" y="-124544"/>
              <a:ext cx="1236879" cy="1695091"/>
            </a:xfrm>
            <a:prstGeom prst="trapezoid">
              <a:avLst>
                <a:gd name="adj" fmla="val 10626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083328" y="224616"/>
              <a:ext cx="1338881" cy="989210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5480653" y="224616"/>
              <a:ext cx="1338881" cy="989210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Imag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249291"/>
            <a:ext cx="1640807" cy="1130060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pic>
        <p:nvPicPr>
          <p:cNvPr id="10" name="Image 2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267" y="369346"/>
            <a:ext cx="1290800" cy="885649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pic>
        <p:nvPicPr>
          <p:cNvPr id="11" name="Image 2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363" y="369346"/>
            <a:ext cx="1300911" cy="892587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pic>
        <p:nvPicPr>
          <p:cNvPr id="12" name="Image 2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249291"/>
            <a:ext cx="1651000" cy="1130060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sp>
        <p:nvSpPr>
          <p:cNvPr id="13" name="Rectangle 12"/>
          <p:cNvSpPr/>
          <p:nvPr userDrawn="1"/>
        </p:nvSpPr>
        <p:spPr>
          <a:xfrm>
            <a:off x="0" y="1595705"/>
            <a:ext cx="9144000" cy="292100"/>
          </a:xfrm>
          <a:prstGeom prst="rect">
            <a:avLst/>
          </a:prstGeom>
          <a:solidFill>
            <a:srgbClr val="DA003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" name="Groupe 21"/>
          <p:cNvGrpSpPr>
            <a:grpSpLocks/>
          </p:cNvGrpSpPr>
          <p:nvPr userDrawn="1"/>
        </p:nvGrpSpPr>
        <p:grpSpPr bwMode="auto">
          <a:xfrm>
            <a:off x="0" y="-6350"/>
            <a:ext cx="1844675" cy="1906588"/>
            <a:chOff x="-665" y="0"/>
            <a:chExt cx="907032" cy="937260"/>
          </a:xfrm>
        </p:grpSpPr>
        <p:sp>
          <p:nvSpPr>
            <p:cNvPr id="15" name="Forme libre 31"/>
            <p:cNvSpPr/>
            <p:nvPr userDrawn="1"/>
          </p:nvSpPr>
          <p:spPr>
            <a:xfrm>
              <a:off x="-665" y="0"/>
              <a:ext cx="894543" cy="937260"/>
            </a:xfrm>
            <a:custGeom>
              <a:avLst/>
              <a:gdLst>
                <a:gd name="connsiteX0" fmla="*/ 0 w 894311"/>
                <a:gd name="connsiteY0" fmla="*/ 0 h 937260"/>
                <a:gd name="connsiteX1" fmla="*/ 252988 w 894311"/>
                <a:gd name="connsiteY1" fmla="*/ 0 h 937260"/>
                <a:gd name="connsiteX2" fmla="*/ 494572 w 894311"/>
                <a:gd name="connsiteY2" fmla="*/ 0 h 937260"/>
                <a:gd name="connsiteX3" fmla="*/ 747560 w 894311"/>
                <a:gd name="connsiteY3" fmla="*/ 0 h 937260"/>
                <a:gd name="connsiteX4" fmla="*/ 767474 w 894311"/>
                <a:gd name="connsiteY4" fmla="*/ 25030 h 937260"/>
                <a:gd name="connsiteX5" fmla="*/ 894311 w 894311"/>
                <a:gd name="connsiteY5" fmla="*/ 448488 h 937260"/>
                <a:gd name="connsiteX6" fmla="*/ 736722 w 894311"/>
                <a:gd name="connsiteY6" fmla="*/ 910597 h 937260"/>
                <a:gd name="connsiteX7" fmla="*/ 710939 w 894311"/>
                <a:gd name="connsiteY7" fmla="*/ 937260 h 937260"/>
                <a:gd name="connsiteX8" fmla="*/ 457951 w 894311"/>
                <a:gd name="connsiteY8" fmla="*/ 937260 h 937260"/>
                <a:gd name="connsiteX9" fmla="*/ 252988 w 894311"/>
                <a:gd name="connsiteY9" fmla="*/ 937260 h 937260"/>
                <a:gd name="connsiteX10" fmla="*/ 0 w 894311"/>
                <a:gd name="connsiteY10" fmla="*/ 937260 h 937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4311" h="937260">
                  <a:moveTo>
                    <a:pt x="0" y="0"/>
                  </a:moveTo>
                  <a:lnTo>
                    <a:pt x="252988" y="0"/>
                  </a:lnTo>
                  <a:lnTo>
                    <a:pt x="494572" y="0"/>
                  </a:lnTo>
                  <a:lnTo>
                    <a:pt x="747560" y="0"/>
                  </a:lnTo>
                  <a:lnTo>
                    <a:pt x="767474" y="25030"/>
                  </a:lnTo>
                  <a:cubicBezTo>
                    <a:pt x="845841" y="133402"/>
                    <a:pt x="894311" y="283117"/>
                    <a:pt x="894311" y="448488"/>
                  </a:cubicBezTo>
                  <a:cubicBezTo>
                    <a:pt x="894311" y="634530"/>
                    <a:pt x="832966" y="800758"/>
                    <a:pt x="736722" y="910597"/>
                  </a:cubicBezTo>
                  <a:lnTo>
                    <a:pt x="710939" y="937260"/>
                  </a:lnTo>
                  <a:lnTo>
                    <a:pt x="457951" y="937260"/>
                  </a:lnTo>
                  <a:lnTo>
                    <a:pt x="252988" y="937260"/>
                  </a:lnTo>
                  <a:lnTo>
                    <a:pt x="0" y="93726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6" name="Forme libre 32"/>
            <p:cNvSpPr/>
            <p:nvPr userDrawn="1"/>
          </p:nvSpPr>
          <p:spPr>
            <a:xfrm>
              <a:off x="706539" y="0"/>
              <a:ext cx="199828" cy="937260"/>
            </a:xfrm>
            <a:custGeom>
              <a:avLst/>
              <a:gdLst>
                <a:gd name="connsiteX0" fmla="*/ 36621 w 199884"/>
                <a:gd name="connsiteY0" fmla="*/ 0 h 937260"/>
                <a:gd name="connsiteX1" fmla="*/ 39809 w 199884"/>
                <a:gd name="connsiteY1" fmla="*/ 0 h 937260"/>
                <a:gd name="connsiteX2" fmla="*/ 43848 w 199884"/>
                <a:gd name="connsiteY2" fmla="*/ 0 h 937260"/>
                <a:gd name="connsiteX3" fmla="*/ 47036 w 199884"/>
                <a:gd name="connsiteY3" fmla="*/ 0 h 937260"/>
                <a:gd name="connsiteX4" fmla="*/ 67777 w 199884"/>
                <a:gd name="connsiteY4" fmla="*/ 25030 h 937260"/>
                <a:gd name="connsiteX5" fmla="*/ 199884 w 199884"/>
                <a:gd name="connsiteY5" fmla="*/ 448488 h 937260"/>
                <a:gd name="connsiteX6" fmla="*/ 35747 w 199884"/>
                <a:gd name="connsiteY6" fmla="*/ 910597 h 937260"/>
                <a:gd name="connsiteX7" fmla="*/ 8893 w 199884"/>
                <a:gd name="connsiteY7" fmla="*/ 937260 h 937260"/>
                <a:gd name="connsiteX8" fmla="*/ 5705 w 199884"/>
                <a:gd name="connsiteY8" fmla="*/ 937260 h 937260"/>
                <a:gd name="connsiteX9" fmla="*/ 3188 w 199884"/>
                <a:gd name="connsiteY9" fmla="*/ 937260 h 937260"/>
                <a:gd name="connsiteX10" fmla="*/ 0 w 199884"/>
                <a:gd name="connsiteY10" fmla="*/ 937260 h 937260"/>
                <a:gd name="connsiteX11" fmla="*/ 25783 w 199884"/>
                <a:gd name="connsiteY11" fmla="*/ 910597 h 937260"/>
                <a:gd name="connsiteX12" fmla="*/ 183372 w 199884"/>
                <a:gd name="connsiteY12" fmla="*/ 448488 h 937260"/>
                <a:gd name="connsiteX13" fmla="*/ 56535 w 199884"/>
                <a:gd name="connsiteY13" fmla="*/ 25030 h 937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9884" h="937260">
                  <a:moveTo>
                    <a:pt x="36621" y="0"/>
                  </a:moveTo>
                  <a:lnTo>
                    <a:pt x="39809" y="0"/>
                  </a:lnTo>
                  <a:lnTo>
                    <a:pt x="43848" y="0"/>
                  </a:lnTo>
                  <a:lnTo>
                    <a:pt x="47036" y="0"/>
                  </a:lnTo>
                  <a:lnTo>
                    <a:pt x="67777" y="25030"/>
                  </a:lnTo>
                  <a:cubicBezTo>
                    <a:pt x="149400" y="133402"/>
                    <a:pt x="199884" y="283117"/>
                    <a:pt x="199884" y="448488"/>
                  </a:cubicBezTo>
                  <a:cubicBezTo>
                    <a:pt x="199884" y="634530"/>
                    <a:pt x="135990" y="800758"/>
                    <a:pt x="35747" y="910597"/>
                  </a:cubicBezTo>
                  <a:lnTo>
                    <a:pt x="8893" y="937260"/>
                  </a:lnTo>
                  <a:lnTo>
                    <a:pt x="5705" y="937260"/>
                  </a:lnTo>
                  <a:lnTo>
                    <a:pt x="3188" y="937260"/>
                  </a:lnTo>
                  <a:lnTo>
                    <a:pt x="0" y="937260"/>
                  </a:lnTo>
                  <a:lnTo>
                    <a:pt x="25783" y="910597"/>
                  </a:lnTo>
                  <a:cubicBezTo>
                    <a:pt x="122027" y="800758"/>
                    <a:pt x="183372" y="634530"/>
                    <a:pt x="183372" y="448488"/>
                  </a:cubicBezTo>
                  <a:cubicBezTo>
                    <a:pt x="183372" y="283117"/>
                    <a:pt x="134902" y="133402"/>
                    <a:pt x="56535" y="25030"/>
                  </a:cubicBezTo>
                  <a:close/>
                </a:path>
              </a:pathLst>
            </a:custGeom>
            <a:solidFill>
              <a:srgbClr val="DA00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</p:grpSp>
      <p:sp>
        <p:nvSpPr>
          <p:cNvPr id="17" name="Rectangle 16"/>
          <p:cNvSpPr/>
          <p:nvPr userDrawn="1"/>
        </p:nvSpPr>
        <p:spPr bwMode="auto">
          <a:xfrm>
            <a:off x="2620661" y="1612255"/>
            <a:ext cx="1078379" cy="24610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PLASTIQUE</a:t>
            </a:r>
          </a:p>
        </p:txBody>
      </p:sp>
      <p:sp>
        <p:nvSpPr>
          <p:cNvPr id="18" name="Rectangle 17"/>
          <p:cNvSpPr/>
          <p:nvPr userDrawn="1"/>
        </p:nvSpPr>
        <p:spPr bwMode="auto">
          <a:xfrm>
            <a:off x="4145658" y="1612067"/>
            <a:ext cx="1076972" cy="24629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FONDERIE</a:t>
            </a:r>
          </a:p>
        </p:txBody>
      </p:sp>
      <p:sp>
        <p:nvSpPr>
          <p:cNvPr id="19" name="Rectangle 18"/>
          <p:cNvSpPr/>
          <p:nvPr userDrawn="1"/>
        </p:nvSpPr>
        <p:spPr bwMode="auto">
          <a:xfrm>
            <a:off x="7194246" y="1585446"/>
            <a:ext cx="1194178" cy="3488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DÉCOUPAGE / EMBOUTISSAGE</a:t>
            </a:r>
          </a:p>
        </p:txBody>
      </p:sp>
      <p:cxnSp>
        <p:nvCxnSpPr>
          <p:cNvPr id="20" name="Connecteur droit 36"/>
          <p:cNvCxnSpPr/>
          <p:nvPr userDrawn="1"/>
        </p:nvCxnSpPr>
        <p:spPr>
          <a:xfrm>
            <a:off x="0" y="1900238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Image 40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1" y="361158"/>
            <a:ext cx="1472603" cy="894820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sp>
        <p:nvSpPr>
          <p:cNvPr id="24" name="Rectangle 23"/>
          <p:cNvSpPr/>
          <p:nvPr userDrawn="1"/>
        </p:nvSpPr>
        <p:spPr bwMode="auto">
          <a:xfrm>
            <a:off x="5669248" y="1612108"/>
            <a:ext cx="1078379" cy="2462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ÉTANCHÉITÉ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4703886" y="2297694"/>
            <a:ext cx="4369777" cy="1910239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DA00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fr-FR" dirty="0"/>
              <a:t>Présentation Investisseurs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4703886" y="4207933"/>
            <a:ext cx="4369777" cy="846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effectLst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dirty="0"/>
              <a:t>Avril 2015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92677" y="2073912"/>
            <a:ext cx="3303995" cy="2249865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44050" y="4482417"/>
            <a:ext cx="3833767" cy="192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4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259575"/>
      </p:ext>
    </p:extLst>
  </p:cSld>
  <p:clrMapOvr>
    <a:masterClrMapping/>
  </p:clrMapOvr>
  <p:transition spd="slow"/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613076"/>
      </p:ext>
    </p:extLst>
  </p:cSld>
  <p:clrMapOvr>
    <a:masterClrMapping/>
  </p:clrMapOvr>
  <p:transition spd="slow"/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16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228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43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GB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99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10625" y="1783633"/>
            <a:ext cx="3645000" cy="3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61825" y="5281867"/>
            <a:ext cx="3193800" cy="9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085300" y="5158527"/>
            <a:ext cx="2086800" cy="8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652067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solid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Texte 26"/>
          <p:cNvSpPr txBox="1"/>
          <p:nvPr/>
        </p:nvSpPr>
        <p:spPr>
          <a:xfrm>
            <a:off x="-756592" y="-99392"/>
            <a:ext cx="504312" cy="648072"/>
          </a:xfrm>
          <a:prstGeom prst="rect">
            <a:avLst/>
          </a:prstGeom>
          <a:solidFill>
            <a:schemeClr val="tx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43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87</a:t>
            </a:r>
          </a:p>
        </p:txBody>
      </p:sp>
      <p:sp>
        <p:nvSpPr>
          <p:cNvPr id="19" name="ZoneTexte 26"/>
          <p:cNvSpPr txBox="1"/>
          <p:nvPr/>
        </p:nvSpPr>
        <p:spPr>
          <a:xfrm>
            <a:off x="-756592" y="628689"/>
            <a:ext cx="504312" cy="648072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56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81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115</a:t>
            </a:r>
          </a:p>
        </p:txBody>
      </p:sp>
      <p:sp>
        <p:nvSpPr>
          <p:cNvPr id="20" name="ZoneTexte 26"/>
          <p:cNvSpPr txBox="1"/>
          <p:nvPr/>
        </p:nvSpPr>
        <p:spPr>
          <a:xfrm>
            <a:off x="-756592" y="1356770"/>
            <a:ext cx="504312" cy="648072"/>
          </a:xfrm>
          <a:prstGeom prst="rect">
            <a:avLst/>
          </a:prstGeom>
          <a:solidFill>
            <a:schemeClr val="accent1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143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167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200</a:t>
            </a:r>
          </a:p>
        </p:txBody>
      </p:sp>
      <p:sp>
        <p:nvSpPr>
          <p:cNvPr id="28" name="ZoneTexte 26"/>
          <p:cNvSpPr txBox="1"/>
          <p:nvPr/>
        </p:nvSpPr>
        <p:spPr>
          <a:xfrm>
            <a:off x="-756592" y="2084851"/>
            <a:ext cx="504312" cy="648072"/>
          </a:xfrm>
          <a:prstGeom prst="rect">
            <a:avLst/>
          </a:prstGeom>
          <a:solidFill>
            <a:schemeClr val="accent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188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202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222</a:t>
            </a:r>
          </a:p>
        </p:txBody>
      </p:sp>
      <p:sp>
        <p:nvSpPr>
          <p:cNvPr id="29" name="ZoneTexte 26"/>
          <p:cNvSpPr txBox="1"/>
          <p:nvPr/>
        </p:nvSpPr>
        <p:spPr>
          <a:xfrm>
            <a:off x="-756592" y="2812932"/>
            <a:ext cx="504312" cy="648072"/>
          </a:xfrm>
          <a:prstGeom prst="rect">
            <a:avLst/>
          </a:prstGeom>
          <a:solidFill>
            <a:schemeClr val="accent3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</p:txBody>
      </p:sp>
      <p:sp>
        <p:nvSpPr>
          <p:cNvPr id="30" name="ZoneTexte 26"/>
          <p:cNvSpPr txBox="1"/>
          <p:nvPr/>
        </p:nvSpPr>
        <p:spPr>
          <a:xfrm>
            <a:off x="-756592" y="3541013"/>
            <a:ext cx="504312" cy="648072"/>
          </a:xfrm>
          <a:prstGeom prst="rect">
            <a:avLst/>
          </a:prstGeom>
          <a:solidFill>
            <a:schemeClr val="accent4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</p:txBody>
      </p:sp>
      <p:sp>
        <p:nvSpPr>
          <p:cNvPr id="31" name="ZoneTexte 26"/>
          <p:cNvSpPr txBox="1"/>
          <p:nvPr/>
        </p:nvSpPr>
        <p:spPr>
          <a:xfrm>
            <a:off x="-756592" y="4269094"/>
            <a:ext cx="504312" cy="648072"/>
          </a:xfrm>
          <a:prstGeom prst="rect">
            <a:avLst/>
          </a:prstGeom>
          <a:solidFill>
            <a:schemeClr val="accent5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</p:txBody>
      </p:sp>
      <p:sp>
        <p:nvSpPr>
          <p:cNvPr id="32" name="ZoneTexte 26"/>
          <p:cNvSpPr txBox="1"/>
          <p:nvPr/>
        </p:nvSpPr>
        <p:spPr>
          <a:xfrm>
            <a:off x="-756592" y="4997175"/>
            <a:ext cx="504312" cy="648072"/>
          </a:xfrm>
          <a:prstGeom prst="rect">
            <a:avLst/>
          </a:prstGeom>
          <a:solidFill>
            <a:schemeClr val="accent6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</p:txBody>
      </p:sp>
      <p:sp>
        <p:nvSpPr>
          <p:cNvPr id="33" name="ZoneTexte 26"/>
          <p:cNvSpPr txBox="1"/>
          <p:nvPr/>
        </p:nvSpPr>
        <p:spPr>
          <a:xfrm>
            <a:off x="-756592" y="5725256"/>
            <a:ext cx="504312" cy="648072"/>
          </a:xfrm>
          <a:prstGeom prst="rect">
            <a:avLst/>
          </a:prstGeom>
          <a:solidFill>
            <a:srgbClr val="FFC000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255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192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4" name="ZoneTexte 26"/>
          <p:cNvSpPr txBox="1"/>
          <p:nvPr/>
        </p:nvSpPr>
        <p:spPr>
          <a:xfrm>
            <a:off x="-756592" y="6453336"/>
            <a:ext cx="504312" cy="648072"/>
          </a:xfrm>
          <a:prstGeom prst="rect">
            <a:avLst/>
          </a:prstGeom>
          <a:solidFill>
            <a:srgbClr val="F60000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246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516216" y="6553542"/>
            <a:ext cx="1656184" cy="365125"/>
          </a:xfrm>
          <a:prstGeom prst="rect">
            <a:avLst/>
          </a:prstGeom>
        </p:spPr>
        <p:txBody>
          <a:bodyPr/>
          <a:lstStyle>
            <a:lvl1pPr>
              <a:defRPr sz="1100" i="1"/>
            </a:lvl1pPr>
          </a:lstStyle>
          <a:p>
            <a:endParaRPr lang="en-GB" dirty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43" name="Rectangle 3"/>
          <p:cNvSpPr txBox="1">
            <a:spLocks noChangeAspect="1" noChangeArrowheads="1"/>
          </p:cNvSpPr>
          <p:nvPr/>
        </p:nvSpPr>
        <p:spPr bwMode="auto">
          <a:xfrm>
            <a:off x="360485" y="3296634"/>
            <a:ext cx="7003224" cy="616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82296" bIns="0" anchor="b"/>
          <a:lstStyle>
            <a:lvl1pPr marL="342900" indent="-3429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9pPr>
          </a:lstStyle>
          <a:p>
            <a:pPr>
              <a:spcBef>
                <a:spcPts val="1200"/>
              </a:spcBef>
            </a:pPr>
            <a:endParaRPr lang="fr-FR" sz="2800" dirty="0"/>
          </a:p>
          <a:p>
            <a:pPr>
              <a:spcBef>
                <a:spcPts val="1200"/>
              </a:spcBef>
            </a:pPr>
            <a:r>
              <a:rPr lang="fr-FR" sz="2800" dirty="0"/>
              <a:t>Présentation Investisseurs</a:t>
            </a:r>
          </a:p>
        </p:txBody>
      </p:sp>
      <p:sp>
        <p:nvSpPr>
          <p:cNvPr id="44" name="Rectangle 8"/>
          <p:cNvSpPr>
            <a:spLocks noChangeArrowheads="1"/>
          </p:cNvSpPr>
          <p:nvPr/>
        </p:nvSpPr>
        <p:spPr bwMode="auto">
          <a:xfrm>
            <a:off x="382467" y="3946432"/>
            <a:ext cx="640666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8DFF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190500" indent="-190500" eaLnBrk="0" hangingPunct="0">
              <a:buClr>
                <a:schemeClr val="bg2"/>
              </a:buClr>
              <a:buSzPct val="85000"/>
              <a:buFont typeface="Wingdings" pitchFamily="2" charset="2"/>
              <a:buNone/>
            </a:pPr>
            <a:r>
              <a:rPr lang="fr-FR" sz="1200" dirty="0">
                <a:solidFill>
                  <a:schemeClr val="bg1"/>
                </a:solidFill>
              </a:rPr>
              <a:t>Avril 2015</a:t>
            </a:r>
            <a:endParaRPr lang="de-DE" sz="1200" dirty="0">
              <a:solidFill>
                <a:schemeClr val="bg1"/>
              </a:solidFill>
            </a:endParaRPr>
          </a:p>
        </p:txBody>
      </p:sp>
      <p:grpSp>
        <p:nvGrpSpPr>
          <p:cNvPr id="22" name="Groupe 15"/>
          <p:cNvGrpSpPr/>
          <p:nvPr/>
        </p:nvGrpSpPr>
        <p:grpSpPr>
          <a:xfrm>
            <a:off x="2302934" y="87627"/>
            <a:ext cx="6307666" cy="1173906"/>
            <a:chOff x="2327855" y="104562"/>
            <a:chExt cx="6238686" cy="1236879"/>
          </a:xfrm>
          <a:solidFill>
            <a:schemeClr val="bg1"/>
          </a:solidFill>
        </p:grpSpPr>
        <p:sp>
          <p:nvSpPr>
            <p:cNvPr id="23" name="Trapèze 17"/>
            <p:cNvSpPr/>
            <p:nvPr/>
          </p:nvSpPr>
          <p:spPr>
            <a:xfrm rot="5400000">
              <a:off x="2556961" y="-124544"/>
              <a:ext cx="1236879" cy="1695091"/>
            </a:xfrm>
            <a:prstGeom prst="trapezoid">
              <a:avLst>
                <a:gd name="adj" fmla="val 10626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4" name="Trapèze 19"/>
            <p:cNvSpPr/>
            <p:nvPr/>
          </p:nvSpPr>
          <p:spPr>
            <a:xfrm rot="16200000">
              <a:off x="7100556" y="-124544"/>
              <a:ext cx="1236879" cy="1695091"/>
            </a:xfrm>
            <a:prstGeom prst="trapezoid">
              <a:avLst>
                <a:gd name="adj" fmla="val 10626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083328" y="224616"/>
              <a:ext cx="1338881" cy="989210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0653" y="224616"/>
              <a:ext cx="1338881" cy="989210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</p:grpSp>
      <p:pic>
        <p:nvPicPr>
          <p:cNvPr id="27" name="Image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04561"/>
            <a:ext cx="1640807" cy="1130060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pic>
        <p:nvPicPr>
          <p:cNvPr id="35" name="Image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267" y="224616"/>
            <a:ext cx="1290800" cy="885649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pic>
        <p:nvPicPr>
          <p:cNvPr id="36" name="Image 2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363" y="224616"/>
            <a:ext cx="1300911" cy="892587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pic>
        <p:nvPicPr>
          <p:cNvPr id="38" name="Image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104561"/>
            <a:ext cx="1651000" cy="1130060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sp>
        <p:nvSpPr>
          <p:cNvPr id="39" name="Rectangle 38"/>
          <p:cNvSpPr/>
          <p:nvPr/>
        </p:nvSpPr>
        <p:spPr>
          <a:xfrm>
            <a:off x="0" y="1425575"/>
            <a:ext cx="9144000" cy="292100"/>
          </a:xfrm>
          <a:prstGeom prst="rect">
            <a:avLst/>
          </a:prstGeom>
          <a:solidFill>
            <a:srgbClr val="DA003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" name="Groupe 21"/>
          <p:cNvGrpSpPr>
            <a:grpSpLocks/>
          </p:cNvGrpSpPr>
          <p:nvPr/>
        </p:nvGrpSpPr>
        <p:grpSpPr bwMode="auto">
          <a:xfrm>
            <a:off x="0" y="-6350"/>
            <a:ext cx="1844675" cy="1906588"/>
            <a:chOff x="-665" y="0"/>
            <a:chExt cx="907032" cy="937260"/>
          </a:xfrm>
        </p:grpSpPr>
        <p:sp>
          <p:nvSpPr>
            <p:cNvPr id="41" name="Forme libre 31"/>
            <p:cNvSpPr/>
            <p:nvPr userDrawn="1"/>
          </p:nvSpPr>
          <p:spPr>
            <a:xfrm>
              <a:off x="-665" y="0"/>
              <a:ext cx="894543" cy="937260"/>
            </a:xfrm>
            <a:custGeom>
              <a:avLst/>
              <a:gdLst>
                <a:gd name="connsiteX0" fmla="*/ 0 w 894311"/>
                <a:gd name="connsiteY0" fmla="*/ 0 h 937260"/>
                <a:gd name="connsiteX1" fmla="*/ 252988 w 894311"/>
                <a:gd name="connsiteY1" fmla="*/ 0 h 937260"/>
                <a:gd name="connsiteX2" fmla="*/ 494572 w 894311"/>
                <a:gd name="connsiteY2" fmla="*/ 0 h 937260"/>
                <a:gd name="connsiteX3" fmla="*/ 747560 w 894311"/>
                <a:gd name="connsiteY3" fmla="*/ 0 h 937260"/>
                <a:gd name="connsiteX4" fmla="*/ 767474 w 894311"/>
                <a:gd name="connsiteY4" fmla="*/ 25030 h 937260"/>
                <a:gd name="connsiteX5" fmla="*/ 894311 w 894311"/>
                <a:gd name="connsiteY5" fmla="*/ 448488 h 937260"/>
                <a:gd name="connsiteX6" fmla="*/ 736722 w 894311"/>
                <a:gd name="connsiteY6" fmla="*/ 910597 h 937260"/>
                <a:gd name="connsiteX7" fmla="*/ 710939 w 894311"/>
                <a:gd name="connsiteY7" fmla="*/ 937260 h 937260"/>
                <a:gd name="connsiteX8" fmla="*/ 457951 w 894311"/>
                <a:gd name="connsiteY8" fmla="*/ 937260 h 937260"/>
                <a:gd name="connsiteX9" fmla="*/ 252988 w 894311"/>
                <a:gd name="connsiteY9" fmla="*/ 937260 h 937260"/>
                <a:gd name="connsiteX10" fmla="*/ 0 w 894311"/>
                <a:gd name="connsiteY10" fmla="*/ 937260 h 937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4311" h="937260">
                  <a:moveTo>
                    <a:pt x="0" y="0"/>
                  </a:moveTo>
                  <a:lnTo>
                    <a:pt x="252988" y="0"/>
                  </a:lnTo>
                  <a:lnTo>
                    <a:pt x="494572" y="0"/>
                  </a:lnTo>
                  <a:lnTo>
                    <a:pt x="747560" y="0"/>
                  </a:lnTo>
                  <a:lnTo>
                    <a:pt x="767474" y="25030"/>
                  </a:lnTo>
                  <a:cubicBezTo>
                    <a:pt x="845841" y="133402"/>
                    <a:pt x="894311" y="283117"/>
                    <a:pt x="894311" y="448488"/>
                  </a:cubicBezTo>
                  <a:cubicBezTo>
                    <a:pt x="894311" y="634530"/>
                    <a:pt x="832966" y="800758"/>
                    <a:pt x="736722" y="910597"/>
                  </a:cubicBezTo>
                  <a:lnTo>
                    <a:pt x="710939" y="937260"/>
                  </a:lnTo>
                  <a:lnTo>
                    <a:pt x="457951" y="937260"/>
                  </a:lnTo>
                  <a:lnTo>
                    <a:pt x="252988" y="937260"/>
                  </a:lnTo>
                  <a:lnTo>
                    <a:pt x="0" y="93726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45" name="Forme libre 32"/>
            <p:cNvSpPr/>
            <p:nvPr userDrawn="1"/>
          </p:nvSpPr>
          <p:spPr>
            <a:xfrm>
              <a:off x="706539" y="0"/>
              <a:ext cx="199828" cy="937260"/>
            </a:xfrm>
            <a:custGeom>
              <a:avLst/>
              <a:gdLst>
                <a:gd name="connsiteX0" fmla="*/ 36621 w 199884"/>
                <a:gd name="connsiteY0" fmla="*/ 0 h 937260"/>
                <a:gd name="connsiteX1" fmla="*/ 39809 w 199884"/>
                <a:gd name="connsiteY1" fmla="*/ 0 h 937260"/>
                <a:gd name="connsiteX2" fmla="*/ 43848 w 199884"/>
                <a:gd name="connsiteY2" fmla="*/ 0 h 937260"/>
                <a:gd name="connsiteX3" fmla="*/ 47036 w 199884"/>
                <a:gd name="connsiteY3" fmla="*/ 0 h 937260"/>
                <a:gd name="connsiteX4" fmla="*/ 67777 w 199884"/>
                <a:gd name="connsiteY4" fmla="*/ 25030 h 937260"/>
                <a:gd name="connsiteX5" fmla="*/ 199884 w 199884"/>
                <a:gd name="connsiteY5" fmla="*/ 448488 h 937260"/>
                <a:gd name="connsiteX6" fmla="*/ 35747 w 199884"/>
                <a:gd name="connsiteY6" fmla="*/ 910597 h 937260"/>
                <a:gd name="connsiteX7" fmla="*/ 8893 w 199884"/>
                <a:gd name="connsiteY7" fmla="*/ 937260 h 937260"/>
                <a:gd name="connsiteX8" fmla="*/ 5705 w 199884"/>
                <a:gd name="connsiteY8" fmla="*/ 937260 h 937260"/>
                <a:gd name="connsiteX9" fmla="*/ 3188 w 199884"/>
                <a:gd name="connsiteY9" fmla="*/ 937260 h 937260"/>
                <a:gd name="connsiteX10" fmla="*/ 0 w 199884"/>
                <a:gd name="connsiteY10" fmla="*/ 937260 h 937260"/>
                <a:gd name="connsiteX11" fmla="*/ 25783 w 199884"/>
                <a:gd name="connsiteY11" fmla="*/ 910597 h 937260"/>
                <a:gd name="connsiteX12" fmla="*/ 183372 w 199884"/>
                <a:gd name="connsiteY12" fmla="*/ 448488 h 937260"/>
                <a:gd name="connsiteX13" fmla="*/ 56535 w 199884"/>
                <a:gd name="connsiteY13" fmla="*/ 25030 h 937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9884" h="937260">
                  <a:moveTo>
                    <a:pt x="36621" y="0"/>
                  </a:moveTo>
                  <a:lnTo>
                    <a:pt x="39809" y="0"/>
                  </a:lnTo>
                  <a:lnTo>
                    <a:pt x="43848" y="0"/>
                  </a:lnTo>
                  <a:lnTo>
                    <a:pt x="47036" y="0"/>
                  </a:lnTo>
                  <a:lnTo>
                    <a:pt x="67777" y="25030"/>
                  </a:lnTo>
                  <a:cubicBezTo>
                    <a:pt x="149400" y="133402"/>
                    <a:pt x="199884" y="283117"/>
                    <a:pt x="199884" y="448488"/>
                  </a:cubicBezTo>
                  <a:cubicBezTo>
                    <a:pt x="199884" y="634530"/>
                    <a:pt x="135990" y="800758"/>
                    <a:pt x="35747" y="910597"/>
                  </a:cubicBezTo>
                  <a:lnTo>
                    <a:pt x="8893" y="937260"/>
                  </a:lnTo>
                  <a:lnTo>
                    <a:pt x="5705" y="937260"/>
                  </a:lnTo>
                  <a:lnTo>
                    <a:pt x="3188" y="937260"/>
                  </a:lnTo>
                  <a:lnTo>
                    <a:pt x="0" y="937260"/>
                  </a:lnTo>
                  <a:lnTo>
                    <a:pt x="25783" y="910597"/>
                  </a:lnTo>
                  <a:cubicBezTo>
                    <a:pt x="122027" y="800758"/>
                    <a:pt x="183372" y="634530"/>
                    <a:pt x="183372" y="448488"/>
                  </a:cubicBezTo>
                  <a:cubicBezTo>
                    <a:pt x="183372" y="283117"/>
                    <a:pt x="134902" y="133402"/>
                    <a:pt x="56535" y="25030"/>
                  </a:cubicBezTo>
                  <a:close/>
                </a:path>
              </a:pathLst>
            </a:custGeom>
            <a:solidFill>
              <a:srgbClr val="DA00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</p:grpSp>
      <p:sp>
        <p:nvSpPr>
          <p:cNvPr id="46" name="Rectangle 45"/>
          <p:cNvSpPr/>
          <p:nvPr/>
        </p:nvSpPr>
        <p:spPr bwMode="auto">
          <a:xfrm>
            <a:off x="2620661" y="1436645"/>
            <a:ext cx="1078379" cy="24610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PLASTIC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4145658" y="1436457"/>
            <a:ext cx="1076972" cy="24629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DIE CASTING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7194246" y="1436498"/>
            <a:ext cx="1078379" cy="2462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STAMPING</a:t>
            </a:r>
          </a:p>
        </p:txBody>
      </p:sp>
      <p:cxnSp>
        <p:nvCxnSpPr>
          <p:cNvPr id="49" name="Connecteur droit 36"/>
          <p:cNvCxnSpPr/>
          <p:nvPr/>
        </p:nvCxnSpPr>
        <p:spPr>
          <a:xfrm>
            <a:off x="0" y="1900238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0" name="Imag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6" r="30435" b="-1608"/>
          <a:stretch>
            <a:fillRect/>
          </a:stretch>
        </p:blipFill>
        <p:spPr bwMode="auto">
          <a:xfrm>
            <a:off x="0" y="2039938"/>
            <a:ext cx="4876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Image 4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1" y="361158"/>
            <a:ext cx="1472603" cy="894820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pic>
        <p:nvPicPr>
          <p:cNvPr id="52" name="Image 4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775" y="5586413"/>
            <a:ext cx="3121025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Rectangle 52"/>
          <p:cNvSpPr/>
          <p:nvPr/>
        </p:nvSpPr>
        <p:spPr bwMode="auto">
          <a:xfrm>
            <a:off x="5669248" y="1436498"/>
            <a:ext cx="1078379" cy="2462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SEALING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4703886" y="2297694"/>
            <a:ext cx="4369777" cy="1910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i="1" kern="1200">
                <a:solidFill>
                  <a:srgbClr val="DA00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5" name="Sous-titre 2"/>
          <p:cNvSpPr txBox="1">
            <a:spLocks/>
          </p:cNvSpPr>
          <p:nvPr/>
        </p:nvSpPr>
        <p:spPr>
          <a:xfrm>
            <a:off x="4703886" y="4207933"/>
            <a:ext cx="4369777" cy="84666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673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1" r:id="rId2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2800" b="1" i="1" kern="1200"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Texte 26"/>
          <p:cNvSpPr txBox="1"/>
          <p:nvPr/>
        </p:nvSpPr>
        <p:spPr>
          <a:xfrm>
            <a:off x="-756592" y="-99392"/>
            <a:ext cx="504312" cy="648072"/>
          </a:xfrm>
          <a:prstGeom prst="rect">
            <a:avLst/>
          </a:prstGeom>
          <a:solidFill>
            <a:schemeClr val="tx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43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87</a:t>
            </a:r>
          </a:p>
        </p:txBody>
      </p:sp>
      <p:sp>
        <p:nvSpPr>
          <p:cNvPr id="19" name="ZoneTexte 26"/>
          <p:cNvSpPr txBox="1"/>
          <p:nvPr/>
        </p:nvSpPr>
        <p:spPr>
          <a:xfrm>
            <a:off x="-756592" y="628689"/>
            <a:ext cx="504312" cy="648072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56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81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115</a:t>
            </a:r>
          </a:p>
        </p:txBody>
      </p:sp>
      <p:sp>
        <p:nvSpPr>
          <p:cNvPr id="20" name="ZoneTexte 26"/>
          <p:cNvSpPr txBox="1"/>
          <p:nvPr/>
        </p:nvSpPr>
        <p:spPr>
          <a:xfrm>
            <a:off x="-756592" y="1356770"/>
            <a:ext cx="504312" cy="648072"/>
          </a:xfrm>
          <a:prstGeom prst="rect">
            <a:avLst/>
          </a:prstGeom>
          <a:solidFill>
            <a:schemeClr val="accent1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143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167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200</a:t>
            </a:r>
          </a:p>
        </p:txBody>
      </p:sp>
      <p:sp>
        <p:nvSpPr>
          <p:cNvPr id="28" name="ZoneTexte 26"/>
          <p:cNvSpPr txBox="1"/>
          <p:nvPr/>
        </p:nvSpPr>
        <p:spPr>
          <a:xfrm>
            <a:off x="-756592" y="2084851"/>
            <a:ext cx="504312" cy="648072"/>
          </a:xfrm>
          <a:prstGeom prst="rect">
            <a:avLst/>
          </a:prstGeom>
          <a:solidFill>
            <a:schemeClr val="accent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188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202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222</a:t>
            </a:r>
          </a:p>
        </p:txBody>
      </p:sp>
      <p:sp>
        <p:nvSpPr>
          <p:cNvPr id="29" name="ZoneTexte 26"/>
          <p:cNvSpPr txBox="1"/>
          <p:nvPr/>
        </p:nvSpPr>
        <p:spPr>
          <a:xfrm>
            <a:off x="-756592" y="2812932"/>
            <a:ext cx="504312" cy="648072"/>
          </a:xfrm>
          <a:prstGeom prst="rect">
            <a:avLst/>
          </a:prstGeom>
          <a:solidFill>
            <a:schemeClr val="accent3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</p:txBody>
      </p:sp>
      <p:sp>
        <p:nvSpPr>
          <p:cNvPr id="30" name="ZoneTexte 26"/>
          <p:cNvSpPr txBox="1"/>
          <p:nvPr/>
        </p:nvSpPr>
        <p:spPr>
          <a:xfrm>
            <a:off x="-756592" y="3541013"/>
            <a:ext cx="504312" cy="648072"/>
          </a:xfrm>
          <a:prstGeom prst="rect">
            <a:avLst/>
          </a:prstGeom>
          <a:solidFill>
            <a:schemeClr val="accent4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</p:txBody>
      </p:sp>
      <p:sp>
        <p:nvSpPr>
          <p:cNvPr id="31" name="ZoneTexte 26"/>
          <p:cNvSpPr txBox="1"/>
          <p:nvPr/>
        </p:nvSpPr>
        <p:spPr>
          <a:xfrm>
            <a:off x="-756592" y="4269094"/>
            <a:ext cx="504312" cy="648072"/>
          </a:xfrm>
          <a:prstGeom prst="rect">
            <a:avLst/>
          </a:prstGeom>
          <a:solidFill>
            <a:schemeClr val="accent5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</p:txBody>
      </p:sp>
      <p:sp>
        <p:nvSpPr>
          <p:cNvPr id="32" name="ZoneTexte 26"/>
          <p:cNvSpPr txBox="1"/>
          <p:nvPr/>
        </p:nvSpPr>
        <p:spPr>
          <a:xfrm>
            <a:off x="-756592" y="4997175"/>
            <a:ext cx="504312" cy="648072"/>
          </a:xfrm>
          <a:prstGeom prst="rect">
            <a:avLst/>
          </a:prstGeom>
          <a:solidFill>
            <a:schemeClr val="accent6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</p:txBody>
      </p:sp>
      <p:sp>
        <p:nvSpPr>
          <p:cNvPr id="33" name="ZoneTexte 26"/>
          <p:cNvSpPr txBox="1"/>
          <p:nvPr/>
        </p:nvSpPr>
        <p:spPr>
          <a:xfrm>
            <a:off x="-756592" y="5725256"/>
            <a:ext cx="504312" cy="648072"/>
          </a:xfrm>
          <a:prstGeom prst="rect">
            <a:avLst/>
          </a:prstGeom>
          <a:solidFill>
            <a:srgbClr val="FFC000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255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192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4" name="ZoneTexte 26"/>
          <p:cNvSpPr txBox="1"/>
          <p:nvPr/>
        </p:nvSpPr>
        <p:spPr>
          <a:xfrm>
            <a:off x="-756592" y="6453336"/>
            <a:ext cx="504312" cy="648072"/>
          </a:xfrm>
          <a:prstGeom prst="rect">
            <a:avLst/>
          </a:prstGeom>
          <a:solidFill>
            <a:srgbClr val="F60000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246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516216" y="6553542"/>
            <a:ext cx="1656184" cy="365125"/>
          </a:xfrm>
          <a:prstGeom prst="rect">
            <a:avLst/>
          </a:prstGeom>
        </p:spPr>
        <p:txBody>
          <a:bodyPr/>
          <a:lstStyle>
            <a:lvl1pPr>
              <a:defRPr sz="1100" i="1"/>
            </a:lvl1pPr>
          </a:lstStyle>
          <a:p>
            <a:endParaRPr lang="en-GB" dirty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42" name="Rectangle 9"/>
          <p:cNvSpPr>
            <a:spLocks noChangeArrowheads="1"/>
          </p:cNvSpPr>
          <p:nvPr/>
        </p:nvSpPr>
        <p:spPr bwMode="gray">
          <a:xfrm>
            <a:off x="1" y="3264187"/>
            <a:ext cx="9143998" cy="1092566"/>
          </a:xfrm>
          <a:prstGeom prst="rect">
            <a:avLst/>
          </a:prstGeom>
          <a:solidFill>
            <a:schemeClr val="tx2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endParaRPr lang="de-DE" sz="1100" dirty="0"/>
          </a:p>
        </p:txBody>
      </p:sp>
      <p:sp>
        <p:nvSpPr>
          <p:cNvPr id="43" name="Rectangle 3"/>
          <p:cNvSpPr txBox="1">
            <a:spLocks noChangeAspect="1" noChangeArrowheads="1"/>
          </p:cNvSpPr>
          <p:nvPr/>
        </p:nvSpPr>
        <p:spPr bwMode="auto">
          <a:xfrm>
            <a:off x="360485" y="3296634"/>
            <a:ext cx="7003224" cy="616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82296" bIns="0" anchor="b"/>
          <a:lstStyle>
            <a:lvl1pPr marL="342900" indent="-3429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9pPr>
          </a:lstStyle>
          <a:p>
            <a:pPr>
              <a:spcBef>
                <a:spcPts val="1200"/>
              </a:spcBef>
            </a:pPr>
            <a:endParaRPr lang="fr-FR" sz="2800" dirty="0"/>
          </a:p>
          <a:p>
            <a:pPr>
              <a:spcBef>
                <a:spcPts val="1200"/>
              </a:spcBef>
            </a:pPr>
            <a:r>
              <a:rPr lang="fr-FR" sz="2800" dirty="0"/>
              <a:t>Présentation Investisseurs</a:t>
            </a:r>
          </a:p>
        </p:txBody>
      </p:sp>
      <p:sp>
        <p:nvSpPr>
          <p:cNvPr id="44" name="Rectangle 8"/>
          <p:cNvSpPr>
            <a:spLocks noChangeArrowheads="1"/>
          </p:cNvSpPr>
          <p:nvPr/>
        </p:nvSpPr>
        <p:spPr bwMode="auto">
          <a:xfrm>
            <a:off x="382467" y="3946432"/>
            <a:ext cx="640666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8DFF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190500" indent="-190500" eaLnBrk="0" hangingPunct="0">
              <a:buClr>
                <a:schemeClr val="bg2"/>
              </a:buClr>
              <a:buSzPct val="85000"/>
              <a:buFont typeface="Wingdings" pitchFamily="2" charset="2"/>
              <a:buNone/>
            </a:pPr>
            <a:r>
              <a:rPr lang="fr-FR" sz="1200" dirty="0">
                <a:solidFill>
                  <a:schemeClr val="bg1"/>
                </a:solidFill>
              </a:rPr>
              <a:t>Avril 2015</a:t>
            </a:r>
            <a:endParaRPr lang="de-DE" sz="1200" dirty="0">
              <a:solidFill>
                <a:schemeClr val="bg1"/>
              </a:solidFill>
            </a:endParaRPr>
          </a:p>
        </p:txBody>
      </p:sp>
      <p:pic>
        <p:nvPicPr>
          <p:cNvPr id="1030" name="Picture 6" descr="http://groupe-gmd.eu/wp-content/uploads/slide_home1-980x34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678" y="787529"/>
            <a:ext cx="7035142" cy="247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groupe-gmd.eu/wp-content/uploads/img_slide_03-980x345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1"/>
          <a:stretch/>
        </p:blipFill>
        <p:spPr bwMode="auto">
          <a:xfrm>
            <a:off x="0" y="4628756"/>
            <a:ext cx="4795828" cy="191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groupe-gmd.eu/wp-content/uploads/img_slide_021-980x345.jpg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500699"/>
            <a:ext cx="5796135" cy="204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www.eurostyle-systems.fr/wp-content/uploads/2013/06/logo-GMD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29" y="1145748"/>
            <a:ext cx="2251298" cy="149846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84437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2800" b="1" i="1" kern="1200"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eurostyle-systems.fr/wp-content/uploads/2013/06/logo-GMD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20" b="5851"/>
          <a:stretch/>
        </p:blipFill>
        <p:spPr bwMode="auto">
          <a:xfrm>
            <a:off x="8219520" y="6466108"/>
            <a:ext cx="627135" cy="32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pour modifier le style du titre</a:t>
            </a:r>
            <a:endParaRPr lang="en-GB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96753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gray">
          <a:xfrm>
            <a:off x="539750" y="719410"/>
            <a:ext cx="8208963" cy="0"/>
          </a:xfrm>
          <a:prstGeom prst="line">
            <a:avLst/>
          </a:prstGeom>
          <a:noFill/>
          <a:ln w="7620">
            <a:solidFill>
              <a:srgbClr val="BEBEB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Line 80"/>
          <p:cNvSpPr>
            <a:spLocks noChangeShapeType="1"/>
          </p:cNvSpPr>
          <p:nvPr/>
        </p:nvSpPr>
        <p:spPr bwMode="gray">
          <a:xfrm>
            <a:off x="539750" y="6409903"/>
            <a:ext cx="8208963" cy="0"/>
          </a:xfrm>
          <a:prstGeom prst="line">
            <a:avLst/>
          </a:prstGeom>
          <a:noFill/>
          <a:ln w="7620">
            <a:solidFill>
              <a:srgbClr val="BEBEB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2136" cy="6858000"/>
          </a:xfrm>
          <a:prstGeom prst="rect">
            <a:avLst/>
          </a:prstGeom>
          <a:gradFill>
            <a:gsLst>
              <a:gs pos="0">
                <a:srgbClr val="FF0000"/>
              </a:gs>
              <a:gs pos="94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space réservé du pied de page 4"/>
          <p:cNvSpPr txBox="1">
            <a:spLocks/>
          </p:cNvSpPr>
          <p:nvPr/>
        </p:nvSpPr>
        <p:spPr>
          <a:xfrm>
            <a:off x="455639" y="6467162"/>
            <a:ext cx="165618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  <a:ea typeface="ＭＳ Ｐゴシック" pitchFamily="34" charset="-128"/>
              </a:rPr>
              <a:t>Strictement confidentiel</a:t>
            </a:r>
          </a:p>
        </p:txBody>
      </p:sp>
      <p:sp>
        <p:nvSpPr>
          <p:cNvPr id="23" name="ZoneTexte 26"/>
          <p:cNvSpPr txBox="1"/>
          <p:nvPr/>
        </p:nvSpPr>
        <p:spPr>
          <a:xfrm>
            <a:off x="-756592" y="-99392"/>
            <a:ext cx="504312" cy="648072"/>
          </a:xfrm>
          <a:prstGeom prst="rect">
            <a:avLst/>
          </a:prstGeom>
          <a:solidFill>
            <a:schemeClr val="tx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43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87</a:t>
            </a:r>
          </a:p>
        </p:txBody>
      </p:sp>
      <p:sp>
        <p:nvSpPr>
          <p:cNvPr id="25" name="ZoneTexte 26"/>
          <p:cNvSpPr txBox="1"/>
          <p:nvPr/>
        </p:nvSpPr>
        <p:spPr>
          <a:xfrm>
            <a:off x="-756592" y="628689"/>
            <a:ext cx="504312" cy="648072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56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81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115</a:t>
            </a:r>
          </a:p>
        </p:txBody>
      </p:sp>
      <p:sp>
        <p:nvSpPr>
          <p:cNvPr id="26" name="ZoneTexte 26"/>
          <p:cNvSpPr txBox="1"/>
          <p:nvPr/>
        </p:nvSpPr>
        <p:spPr>
          <a:xfrm>
            <a:off x="-756592" y="1356770"/>
            <a:ext cx="504312" cy="648072"/>
          </a:xfrm>
          <a:prstGeom prst="rect">
            <a:avLst/>
          </a:prstGeom>
          <a:solidFill>
            <a:schemeClr val="accent1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143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167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200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-756592" y="2084851"/>
            <a:ext cx="504312" cy="648072"/>
          </a:xfrm>
          <a:prstGeom prst="rect">
            <a:avLst/>
          </a:prstGeom>
          <a:solidFill>
            <a:schemeClr val="accent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188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202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222</a:t>
            </a:r>
          </a:p>
        </p:txBody>
      </p:sp>
      <p:sp>
        <p:nvSpPr>
          <p:cNvPr id="28" name="ZoneTexte 26"/>
          <p:cNvSpPr txBox="1"/>
          <p:nvPr/>
        </p:nvSpPr>
        <p:spPr>
          <a:xfrm>
            <a:off x="-756592" y="2812932"/>
            <a:ext cx="504312" cy="648072"/>
          </a:xfrm>
          <a:prstGeom prst="rect">
            <a:avLst/>
          </a:prstGeom>
          <a:solidFill>
            <a:schemeClr val="accent3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</p:txBody>
      </p:sp>
      <p:sp>
        <p:nvSpPr>
          <p:cNvPr id="29" name="ZoneTexte 26"/>
          <p:cNvSpPr txBox="1"/>
          <p:nvPr/>
        </p:nvSpPr>
        <p:spPr>
          <a:xfrm>
            <a:off x="-756592" y="3541013"/>
            <a:ext cx="504312" cy="648072"/>
          </a:xfrm>
          <a:prstGeom prst="rect">
            <a:avLst/>
          </a:prstGeom>
          <a:solidFill>
            <a:schemeClr val="accent4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</p:txBody>
      </p:sp>
      <p:sp>
        <p:nvSpPr>
          <p:cNvPr id="30" name="ZoneTexte 26"/>
          <p:cNvSpPr txBox="1"/>
          <p:nvPr/>
        </p:nvSpPr>
        <p:spPr>
          <a:xfrm>
            <a:off x="-756592" y="4269094"/>
            <a:ext cx="504312" cy="648072"/>
          </a:xfrm>
          <a:prstGeom prst="rect">
            <a:avLst/>
          </a:prstGeom>
          <a:solidFill>
            <a:schemeClr val="accent5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</p:txBody>
      </p:sp>
      <p:sp>
        <p:nvSpPr>
          <p:cNvPr id="31" name="ZoneTexte 26"/>
          <p:cNvSpPr txBox="1"/>
          <p:nvPr/>
        </p:nvSpPr>
        <p:spPr>
          <a:xfrm>
            <a:off x="-756592" y="4997175"/>
            <a:ext cx="504312" cy="648072"/>
          </a:xfrm>
          <a:prstGeom prst="rect">
            <a:avLst/>
          </a:prstGeom>
          <a:solidFill>
            <a:schemeClr val="accent6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</p:txBody>
      </p:sp>
      <p:sp>
        <p:nvSpPr>
          <p:cNvPr id="33" name="ZoneTexte 26"/>
          <p:cNvSpPr txBox="1"/>
          <p:nvPr/>
        </p:nvSpPr>
        <p:spPr>
          <a:xfrm>
            <a:off x="-756592" y="5725256"/>
            <a:ext cx="504312" cy="648072"/>
          </a:xfrm>
          <a:prstGeom prst="rect">
            <a:avLst/>
          </a:prstGeom>
          <a:solidFill>
            <a:srgbClr val="FFC000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255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192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4" name="ZoneTexte 26"/>
          <p:cNvSpPr txBox="1"/>
          <p:nvPr/>
        </p:nvSpPr>
        <p:spPr>
          <a:xfrm>
            <a:off x="-756592" y="6453336"/>
            <a:ext cx="504312" cy="648072"/>
          </a:xfrm>
          <a:prstGeom prst="rect">
            <a:avLst/>
          </a:prstGeom>
          <a:solidFill>
            <a:srgbClr val="F60000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246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1710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5" r:id="rId4"/>
    <p:sldLayoutId id="2147483681" r:id="rId5"/>
    <p:sldLayoutId id="2147483682" r:id="rId6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2800" b="1" i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CA3E60-B3D3-4039-A5E7-696ACB1F7FD0}"/>
              </a:ext>
            </a:extLst>
          </p:cNvPr>
          <p:cNvSpPr/>
          <p:nvPr/>
        </p:nvSpPr>
        <p:spPr>
          <a:xfrm>
            <a:off x="-16602" y="2564904"/>
            <a:ext cx="9160602" cy="2111092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8B9123-7C4E-182D-95E2-A43E402FFF09}"/>
              </a:ext>
            </a:extLst>
          </p:cNvPr>
          <p:cNvSpPr/>
          <p:nvPr/>
        </p:nvSpPr>
        <p:spPr>
          <a:xfrm>
            <a:off x="0" y="2476358"/>
            <a:ext cx="9144000" cy="1356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b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" name="TextBox 39">
            <a:extLst>
              <a:ext uri="{FF2B5EF4-FFF2-40B4-BE49-F238E27FC236}">
                <a16:creationId xmlns:a16="http://schemas.microsoft.com/office/drawing/2014/main" id="{F88792E3-ECEF-27C7-CBCD-B9CC58683705}"/>
              </a:ext>
            </a:extLst>
          </p:cNvPr>
          <p:cNvSpPr txBox="1"/>
          <p:nvPr/>
        </p:nvSpPr>
        <p:spPr>
          <a:xfrm>
            <a:off x="704624" y="2723172"/>
            <a:ext cx="766834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fr-FR" sz="3000" b="1" dirty="0">
                <a:solidFill>
                  <a:srgbClr val="000000"/>
                </a:solidFill>
                <a:latin typeface="Times New Roman"/>
                <a:ea typeface="Inter Medium"/>
                <a:cs typeface="Times New Roman"/>
                <a:sym typeface="Inter Medium"/>
              </a:rPr>
              <a:t>Application de gestion de services RH</a:t>
            </a:r>
            <a:endParaRPr lang="fr-FR" sz="3000" b="1" dirty="0">
              <a:solidFill>
                <a:srgbClr val="000000"/>
              </a:solidFill>
              <a:latin typeface="Times New Roman"/>
              <a:ea typeface="Inter Medium"/>
              <a:cs typeface="Times New Roman"/>
            </a:endParaRPr>
          </a:p>
          <a:p>
            <a:pPr algn="ctr" rtl="1"/>
            <a:r>
              <a:rPr lang="fr-FR" sz="4000" b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  <a:sym typeface="Inter Medium"/>
              </a:rPr>
              <a:t>Gestion de signalement </a:t>
            </a:r>
            <a:endParaRPr lang="fr-FR" sz="4000" dirty="0">
              <a:ea typeface="Calibri"/>
              <a:cs typeface="Calibri"/>
            </a:endParaRPr>
          </a:p>
        </p:txBody>
      </p:sp>
      <p:sp>
        <p:nvSpPr>
          <p:cNvPr id="5" name="TextBox 39">
            <a:extLst>
              <a:ext uri="{FF2B5EF4-FFF2-40B4-BE49-F238E27FC236}">
                <a16:creationId xmlns:a16="http://schemas.microsoft.com/office/drawing/2014/main" id="{9E02E49A-CD13-2603-EFD1-1337257CDE89}"/>
              </a:ext>
            </a:extLst>
          </p:cNvPr>
          <p:cNvSpPr txBox="1"/>
          <p:nvPr/>
        </p:nvSpPr>
        <p:spPr>
          <a:xfrm>
            <a:off x="306926" y="3856208"/>
            <a:ext cx="280831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Inter Medium"/>
                <a:cs typeface="Times New Roman"/>
                <a:sym typeface="Inter Medium"/>
              </a:rPr>
              <a:t>Réalisé par :</a:t>
            </a:r>
          </a:p>
          <a:p>
            <a:r>
              <a:rPr lang="fr-F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Inter Medium"/>
                <a:cs typeface="Times New Roman"/>
                <a:sym typeface="Inter Medium"/>
              </a:rPr>
              <a:t>BOUJDAIN Maroua</a:t>
            </a:r>
            <a:endParaRPr lang="fr-FR" sz="2800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6" name="TextBox 39">
            <a:extLst>
              <a:ext uri="{FF2B5EF4-FFF2-40B4-BE49-F238E27FC236}">
                <a16:creationId xmlns:a16="http://schemas.microsoft.com/office/drawing/2014/main" id="{9585EEF1-B223-2764-F479-888600742D6E}"/>
              </a:ext>
            </a:extLst>
          </p:cNvPr>
          <p:cNvSpPr txBox="1"/>
          <p:nvPr/>
        </p:nvSpPr>
        <p:spPr>
          <a:xfrm>
            <a:off x="4699414" y="3871840"/>
            <a:ext cx="502065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Inter Medium"/>
                <a:cs typeface="Times New Roman"/>
                <a:sym typeface="Inter Medium"/>
              </a:rPr>
              <a:t>Encadré par :</a:t>
            </a:r>
          </a:p>
          <a:p>
            <a:r>
              <a:rPr lang="fr-F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Inter Medium"/>
                <a:cs typeface="Times New Roman"/>
                <a:sym typeface="Inter Medium"/>
              </a:rPr>
              <a:t>Saidi Hicham &amp; JABIR Abdelkrim</a:t>
            </a:r>
          </a:p>
        </p:txBody>
      </p:sp>
    </p:spTree>
    <p:extLst>
      <p:ext uri="{BB962C8B-B14F-4D97-AF65-F5344CB8AC3E}">
        <p14:creationId xmlns:p14="http://schemas.microsoft.com/office/powerpoint/2010/main" val="4237917283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56251" y="-111869"/>
            <a:ext cx="3087750" cy="6475959"/>
            <a:chOff x="-23723" y="-47625"/>
            <a:chExt cx="1685217" cy="2756958"/>
          </a:xfrm>
        </p:grpSpPr>
        <p:sp>
          <p:nvSpPr>
            <p:cNvPr id="6" name="Freeform 6"/>
            <p:cNvSpPr/>
            <p:nvPr/>
          </p:nvSpPr>
          <p:spPr>
            <a:xfrm>
              <a:off x="-23723" y="0"/>
              <a:ext cx="1685217" cy="2709333"/>
            </a:xfrm>
            <a:custGeom>
              <a:avLst/>
              <a:gdLst/>
              <a:ahLst/>
              <a:cxnLst/>
              <a:rect l="l" t="t" r="r" b="b"/>
              <a:pathLst>
                <a:path w="1661494" h="2709333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02F23"/>
            </a:solidFill>
          </p:spPr>
          <p:txBody>
            <a:bodyPr/>
            <a:lstStyle/>
            <a:p>
              <a:endParaRPr lang="fr-FR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661493" cy="275695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40"/>
                </a:lnSpc>
              </a:pPr>
              <a:endParaRPr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89785" y="185220"/>
            <a:ext cx="2781603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3600" b="1" dirty="0">
                <a:solidFill>
                  <a:srgbClr val="D02F23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Sommaire</a:t>
            </a:r>
          </a:p>
        </p:txBody>
      </p:sp>
      <p:sp>
        <p:nvSpPr>
          <p:cNvPr id="44" name="Rectangle 1">
            <a:extLst>
              <a:ext uri="{FF2B5EF4-FFF2-40B4-BE49-F238E27FC236}">
                <a16:creationId xmlns:a16="http://schemas.microsoft.com/office/drawing/2014/main" id="{63B5DE32-1B36-0CC2-6C50-E0E848006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27584" y="1707200"/>
            <a:ext cx="2304256" cy="245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175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Inter Medium"/>
                <a:cs typeface="Times New Roman"/>
                <a:sym typeface="Inter Medium"/>
              </a:rPr>
              <a:t> Introduction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7584" y="4149080"/>
            <a:ext cx="4264581" cy="252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  <a:sym typeface="Inter Medium"/>
              </a:rPr>
              <a:t>5.  Architecture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  <a:ea typeface="+mn-lt"/>
                <a:cs typeface="Times New Roman"/>
                <a:sym typeface="Inter Medium"/>
              </a:rPr>
              <a:t>fonctionnelle</a:t>
            </a:r>
            <a:endParaRPr lang="fr-FR" sz="2800" dirty="0" err="1"/>
          </a:p>
        </p:txBody>
      </p:sp>
      <p:sp>
        <p:nvSpPr>
          <p:cNvPr id="36" name="TextBox 36"/>
          <p:cNvSpPr txBox="1"/>
          <p:nvPr/>
        </p:nvSpPr>
        <p:spPr>
          <a:xfrm>
            <a:off x="827584" y="2321799"/>
            <a:ext cx="2790109" cy="24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2. 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Problématique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27584" y="2896466"/>
            <a:ext cx="2790109" cy="24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3.  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Objectifs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</p:txBody>
      </p:sp>
      <p:sp>
        <p:nvSpPr>
          <p:cNvPr id="46" name="TextBox 38">
            <a:extLst>
              <a:ext uri="{FF2B5EF4-FFF2-40B4-BE49-F238E27FC236}">
                <a16:creationId xmlns:a16="http://schemas.microsoft.com/office/drawing/2014/main" id="{518ECA98-1045-4DF3-B911-D9490E948EDF}"/>
              </a:ext>
            </a:extLst>
          </p:cNvPr>
          <p:cNvSpPr txBox="1"/>
          <p:nvPr/>
        </p:nvSpPr>
        <p:spPr>
          <a:xfrm>
            <a:off x="827584" y="3522773"/>
            <a:ext cx="2790109" cy="24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4.  Solution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</p:txBody>
      </p:sp>
      <p:pic>
        <p:nvPicPr>
          <p:cNvPr id="2" name="Image 42">
            <a:extLst>
              <a:ext uri="{FF2B5EF4-FFF2-40B4-BE49-F238E27FC236}">
                <a16:creationId xmlns:a16="http://schemas.microsoft.com/office/drawing/2014/main" id="{AD30AF41-7C32-0D42-195E-3F6893B09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243" y="1559160"/>
            <a:ext cx="3112613" cy="27161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9632" y="-109098"/>
            <a:ext cx="2521788" cy="6552728"/>
            <a:chOff x="0" y="-47625"/>
            <a:chExt cx="1661494" cy="2756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1494" cy="2709333"/>
            </a:xfrm>
            <a:custGeom>
              <a:avLst/>
              <a:gdLst/>
              <a:ahLst/>
              <a:cxnLst/>
              <a:rect l="l" t="t" r="r" b="b"/>
              <a:pathLst>
                <a:path w="1661494" h="2709333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fr-FR" sz="900" dirty="0">
                <a:solidFill>
                  <a:srgbClr val="FF0000"/>
                </a:solidFill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61493" cy="275695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40"/>
                </a:lnSpc>
              </a:pPr>
              <a:endParaRPr sz="900"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3084662" y="1230682"/>
            <a:ext cx="3071513" cy="0"/>
          </a:xfrm>
          <a:prstGeom prst="line">
            <a:avLst/>
          </a:prstGeom>
          <a:ln w="76200" cap="flat">
            <a:solidFill>
              <a:srgbClr val="8988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sz="900" dirty="0"/>
          </a:p>
        </p:txBody>
      </p:sp>
      <p:sp>
        <p:nvSpPr>
          <p:cNvPr id="15" name="TextBox 15"/>
          <p:cNvSpPr txBox="1"/>
          <p:nvPr/>
        </p:nvSpPr>
        <p:spPr>
          <a:xfrm>
            <a:off x="3086853" y="182626"/>
            <a:ext cx="408410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1  </a:t>
            </a:r>
            <a:r>
              <a:rPr lang="en-US" sz="3600" b="1" dirty="0">
                <a:solidFill>
                  <a:srgbClr val="C00000"/>
                </a:solidFill>
                <a:latin typeface="Inter Bold"/>
                <a:ea typeface="Inter Bold"/>
                <a:cs typeface="Times New Roman"/>
                <a:sym typeface="Inter Bold"/>
              </a:rPr>
              <a:t>Introduction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176536" y="5081547"/>
            <a:ext cx="2701254" cy="270125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fr-FR" sz="90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40"/>
                </a:lnSpc>
              </a:pPr>
              <a:endParaRPr sz="9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213985" y="3740033"/>
            <a:ext cx="5430641" cy="1602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 algn="just">
              <a:lnSpc>
                <a:spcPts val="2112"/>
              </a:lnSpc>
              <a:buFont typeface="Courier New" panose="02070309020205020404" pitchFamily="49" charset="0"/>
              <a:buChar char="o"/>
            </a:pPr>
            <a:r>
              <a:rPr lang="fr-FR" sz="1600" b="1" dirty="0">
                <a:ea typeface="+mn-lt"/>
                <a:cs typeface="+mn-lt"/>
              </a:rPr>
              <a:t>Réclamations</a:t>
            </a:r>
            <a:r>
              <a:rPr lang="fr-FR" sz="1600" dirty="0">
                <a:ea typeface="+mn-lt"/>
                <a:cs typeface="+mn-lt"/>
              </a:rPr>
              <a:t> : déposées avec la possibilité pour l’employé de choisir entre un mode </a:t>
            </a:r>
            <a:r>
              <a:rPr lang="fr-FR" sz="1600" b="1" dirty="0">
                <a:ea typeface="+mn-lt"/>
                <a:cs typeface="+mn-lt"/>
              </a:rPr>
              <a:t>anonyme </a:t>
            </a:r>
            <a:r>
              <a:rPr lang="fr-FR" sz="1600" dirty="0">
                <a:ea typeface="+mn-lt"/>
                <a:cs typeface="+mn-lt"/>
              </a:rPr>
              <a:t>ou non, afin de garantir la confidentialité et encourager l’expression libre.</a:t>
            </a:r>
            <a:endParaRPr lang="fr-FR">
              <a:ea typeface="+mn-lt"/>
              <a:cs typeface="+mn-lt"/>
            </a:endParaRPr>
          </a:p>
          <a:p>
            <a:pPr marL="171450" indent="-171450" algn="just">
              <a:lnSpc>
                <a:spcPts val="2112"/>
              </a:lnSpc>
              <a:buFont typeface="Courier New" panose="02070309020205020404" pitchFamily="49" charset="0"/>
              <a:buChar char="o"/>
            </a:pP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ts val="2112"/>
              </a:lnSpc>
              <a:buFont typeface="Courier New" panose="02070309020205020404" pitchFamily="49" charset="0"/>
              <a:buChar char="o"/>
            </a:pPr>
            <a:r>
              <a:rPr lang="fr-FR" sz="1600" b="1" dirty="0">
                <a:solidFill>
                  <a:srgbClr val="000000"/>
                </a:solidFill>
                <a:ea typeface="+mn-lt"/>
                <a:cs typeface="+mn-lt"/>
              </a:rPr>
              <a:t>Suggestions</a:t>
            </a:r>
            <a:r>
              <a:rPr lang="fr-FR" sz="1600" dirty="0">
                <a:solidFill>
                  <a:srgbClr val="000000"/>
                </a:solidFill>
                <a:ea typeface="+mn-lt"/>
                <a:cs typeface="+mn-lt"/>
              </a:rPr>
              <a:t> : déposées de manière </a:t>
            </a:r>
            <a:r>
              <a:rPr lang="fr-FR" sz="1600" b="1" dirty="0">
                <a:solidFill>
                  <a:srgbClr val="000000"/>
                </a:solidFill>
                <a:ea typeface="+mn-lt"/>
                <a:cs typeface="+mn-lt"/>
              </a:rPr>
              <a:t>identifiée</a:t>
            </a:r>
            <a:r>
              <a:rPr lang="fr-FR" sz="1600" dirty="0">
                <a:solidFill>
                  <a:srgbClr val="000000"/>
                </a:solidFill>
                <a:ea typeface="+mn-lt"/>
                <a:cs typeface="+mn-lt"/>
              </a:rPr>
              <a:t>, pour permettre aux responsables de valoriser les initiatives et idées proposées.</a:t>
            </a:r>
          </a:p>
        </p:txBody>
      </p:sp>
      <p:sp>
        <p:nvSpPr>
          <p:cNvPr id="6" name="TextBox 39">
            <a:extLst>
              <a:ext uri="{FF2B5EF4-FFF2-40B4-BE49-F238E27FC236}">
                <a16:creationId xmlns:a16="http://schemas.microsoft.com/office/drawing/2014/main" id="{13F86EAA-DE3A-4A2F-7F78-368D83F735B6}"/>
              </a:ext>
            </a:extLst>
          </p:cNvPr>
          <p:cNvSpPr txBox="1"/>
          <p:nvPr/>
        </p:nvSpPr>
        <p:spPr>
          <a:xfrm>
            <a:off x="3084665" y="876793"/>
            <a:ext cx="3359543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fr-FR" sz="1600" b="1" dirty="0">
                <a:solidFill>
                  <a:srgbClr val="000000"/>
                </a:solidFill>
                <a:latin typeface="Times New Roman"/>
                <a:ea typeface="Inter Medium"/>
                <a:cs typeface="Times New Roman"/>
                <a:sym typeface="Inter Medium"/>
              </a:rPr>
              <a:t>Réclamations anonymes</a:t>
            </a:r>
            <a:endParaRPr lang="fr-FR" sz="1600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6D42F-3674-2235-A712-39AA208F1C11}"/>
              </a:ext>
            </a:extLst>
          </p:cNvPr>
          <p:cNvSpPr txBox="1"/>
          <p:nvPr/>
        </p:nvSpPr>
        <p:spPr>
          <a:xfrm>
            <a:off x="3825475" y="1627171"/>
            <a:ext cx="439248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b="1" dirty="0">
                <a:ea typeface="+mn-lt"/>
                <a:cs typeface="+mn-lt"/>
              </a:rPr>
              <a:t>Module de gestion des signalements.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9D0656EC-B9BA-5447-5497-D8153F3BE281}"/>
              </a:ext>
            </a:extLst>
          </p:cNvPr>
          <p:cNvSpPr txBox="1"/>
          <p:nvPr/>
        </p:nvSpPr>
        <p:spPr>
          <a:xfrm>
            <a:off x="2979169" y="2463749"/>
            <a:ext cx="608510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600" dirty="0">
                <a:ea typeface="+mn-lt"/>
                <a:cs typeface="+mn-lt"/>
              </a:rPr>
              <a:t>L’application de </a:t>
            </a:r>
            <a:r>
              <a:rPr lang="fr-FR" sz="1600" b="1" dirty="0">
                <a:ea typeface="+mn-lt"/>
                <a:cs typeface="+mn-lt"/>
              </a:rPr>
              <a:t>gestion de signalement</a:t>
            </a:r>
            <a:r>
              <a:rPr lang="fr-FR" sz="1600" dirty="0">
                <a:ea typeface="+mn-lt"/>
                <a:cs typeface="+mn-lt"/>
              </a:rPr>
              <a:t> permet aux collaborateurs de soumettre facilement leurs </a:t>
            </a:r>
            <a:r>
              <a:rPr lang="fr-FR" sz="1600" b="1" dirty="0">
                <a:ea typeface="+mn-lt"/>
                <a:cs typeface="+mn-lt"/>
              </a:rPr>
              <a:t>réclamations</a:t>
            </a:r>
            <a:r>
              <a:rPr lang="fr-FR" sz="1600" dirty="0">
                <a:ea typeface="+mn-lt"/>
                <a:cs typeface="+mn-lt"/>
              </a:rPr>
              <a:t> ou </a:t>
            </a:r>
            <a:r>
              <a:rPr lang="fr-FR" sz="1600" b="1" dirty="0">
                <a:ea typeface="+mn-lt"/>
                <a:cs typeface="+mn-lt"/>
              </a:rPr>
              <a:t>suggestions</a:t>
            </a:r>
            <a:r>
              <a:rPr lang="fr-FR" sz="1600" dirty="0">
                <a:ea typeface="+mn-lt"/>
                <a:cs typeface="+mn-lt"/>
              </a:rPr>
              <a:t> via une </a:t>
            </a:r>
            <a:r>
              <a:rPr lang="fr-FR" sz="1600">
                <a:ea typeface="+mn-lt"/>
                <a:cs typeface="+mn-lt"/>
              </a:rPr>
              <a:t>interface digitale .</a:t>
            </a:r>
            <a:endParaRPr lang="fr-FR" sz="1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56FC4-DFFC-AF9A-DFAB-D1A98CCA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5">
            <a:extLst>
              <a:ext uri="{FF2B5EF4-FFF2-40B4-BE49-F238E27FC236}">
                <a16:creationId xmlns:a16="http://schemas.microsoft.com/office/drawing/2014/main" id="{B5F8C96B-F176-8354-D250-4120C7ACF0C0}"/>
              </a:ext>
            </a:extLst>
          </p:cNvPr>
          <p:cNvSpPr txBox="1"/>
          <p:nvPr/>
        </p:nvSpPr>
        <p:spPr>
          <a:xfrm>
            <a:off x="489568" y="104805"/>
            <a:ext cx="408410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2  </a:t>
            </a:r>
            <a:r>
              <a:rPr lang="en-US" sz="3600" b="1" dirty="0" err="1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Problématique</a:t>
            </a:r>
            <a:endParaRPr lang="en-US" sz="3600" b="1" dirty="0" err="1">
              <a:solidFill>
                <a:srgbClr val="C00000"/>
              </a:solidFill>
              <a:latin typeface="Times New Roman"/>
              <a:ea typeface="Inter Bold"/>
              <a:cs typeface="Times New Roma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E638BF5-A606-0774-0B0D-8CEB1C181815}"/>
              </a:ext>
            </a:extLst>
          </p:cNvPr>
          <p:cNvGrpSpPr/>
          <p:nvPr/>
        </p:nvGrpSpPr>
        <p:grpSpPr>
          <a:xfrm>
            <a:off x="747143" y="2883424"/>
            <a:ext cx="1306332" cy="1318536"/>
            <a:chOff x="0" y="0"/>
            <a:chExt cx="3367440" cy="3369600"/>
          </a:xfrm>
          <a:solidFill>
            <a:srgbClr val="FFE7E7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B2AAD9B-FE64-66C4-9735-A9C158470E2B}"/>
                </a:ext>
              </a:extLst>
            </p:cNvPr>
            <p:cNvSpPr/>
            <p:nvPr/>
          </p:nvSpPr>
          <p:spPr>
            <a:xfrm>
              <a:off x="0" y="0"/>
              <a:ext cx="3367405" cy="3369564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12C524A-59EF-E61D-2879-A2C49D042C55}"/>
              </a:ext>
            </a:extLst>
          </p:cNvPr>
          <p:cNvGrpSpPr/>
          <p:nvPr/>
        </p:nvGrpSpPr>
        <p:grpSpPr>
          <a:xfrm>
            <a:off x="2935489" y="2880411"/>
            <a:ext cx="1306332" cy="1318536"/>
            <a:chOff x="0" y="0"/>
            <a:chExt cx="3367440" cy="3369600"/>
          </a:xfrm>
          <a:solidFill>
            <a:srgbClr val="FFE7E7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FDB9156-5667-492D-5ADE-10D48E5A7322}"/>
                </a:ext>
              </a:extLst>
            </p:cNvPr>
            <p:cNvSpPr/>
            <p:nvPr/>
          </p:nvSpPr>
          <p:spPr>
            <a:xfrm>
              <a:off x="0" y="0"/>
              <a:ext cx="3367405" cy="3369564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25E14B2-8D58-B099-6360-2B38DB5B606F}"/>
              </a:ext>
            </a:extLst>
          </p:cNvPr>
          <p:cNvGrpSpPr/>
          <p:nvPr/>
        </p:nvGrpSpPr>
        <p:grpSpPr>
          <a:xfrm>
            <a:off x="5148064" y="2904923"/>
            <a:ext cx="1306332" cy="1318536"/>
            <a:chOff x="0" y="0"/>
            <a:chExt cx="3367440" cy="3369600"/>
          </a:xfrm>
          <a:solidFill>
            <a:srgbClr val="FFE7E7"/>
          </a:solidFill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BAB0FD5-CBD6-B05F-DAA3-8F64F459740E}"/>
                </a:ext>
              </a:extLst>
            </p:cNvPr>
            <p:cNvSpPr/>
            <p:nvPr/>
          </p:nvSpPr>
          <p:spPr>
            <a:xfrm>
              <a:off x="0" y="0"/>
              <a:ext cx="3367405" cy="3369564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3AD95E3-4BC8-0843-AE9F-051BB87D7A40}"/>
              </a:ext>
            </a:extLst>
          </p:cNvPr>
          <p:cNvGrpSpPr/>
          <p:nvPr/>
        </p:nvGrpSpPr>
        <p:grpSpPr>
          <a:xfrm>
            <a:off x="7162170" y="3033486"/>
            <a:ext cx="1306332" cy="1318536"/>
            <a:chOff x="0" y="0"/>
            <a:chExt cx="3367440" cy="3369600"/>
          </a:xfrm>
          <a:solidFill>
            <a:srgbClr val="FFE7E7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BC478AE6-007C-DFE7-1CCD-1E9BAB1A3A12}"/>
                </a:ext>
              </a:extLst>
            </p:cNvPr>
            <p:cNvSpPr/>
            <p:nvPr/>
          </p:nvSpPr>
          <p:spPr>
            <a:xfrm>
              <a:off x="0" y="0"/>
              <a:ext cx="3367405" cy="3369564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11" name="Group 3">
            <a:extLst>
              <a:ext uri="{FF2B5EF4-FFF2-40B4-BE49-F238E27FC236}">
                <a16:creationId xmlns:a16="http://schemas.microsoft.com/office/drawing/2014/main" id="{087F3522-EEA0-858F-4F4F-9C6CA9B0156E}"/>
              </a:ext>
            </a:extLst>
          </p:cNvPr>
          <p:cNvGrpSpPr/>
          <p:nvPr/>
        </p:nvGrpSpPr>
        <p:grpSpPr>
          <a:xfrm>
            <a:off x="581103" y="2451652"/>
            <a:ext cx="1765458" cy="940424"/>
            <a:chOff x="0" y="0"/>
            <a:chExt cx="4159440" cy="2311200"/>
          </a:xfrm>
          <a:solidFill>
            <a:srgbClr val="C00000"/>
          </a:solidFill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439A2678-3216-E220-18C9-52C37106DA32}"/>
                </a:ext>
              </a:extLst>
            </p:cNvPr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grpFill/>
          </p:spPr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1509B5D4-E343-E8FE-DAFD-48F9D3CEC0A9}"/>
              </a:ext>
            </a:extLst>
          </p:cNvPr>
          <p:cNvGrpSpPr/>
          <p:nvPr/>
        </p:nvGrpSpPr>
        <p:grpSpPr>
          <a:xfrm rot="10800000" flipH="1">
            <a:off x="2741174" y="3790999"/>
            <a:ext cx="1765458" cy="940424"/>
            <a:chOff x="0" y="0"/>
            <a:chExt cx="4159440" cy="2311200"/>
          </a:xfrm>
          <a:solidFill>
            <a:srgbClr val="C00000"/>
          </a:solidFill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887AE141-D39C-265D-B674-6C4AA12EDC75}"/>
                </a:ext>
              </a:extLst>
            </p:cNvPr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grpFill/>
          </p:spPr>
        </p:sp>
      </p:grpSp>
      <p:grpSp>
        <p:nvGrpSpPr>
          <p:cNvPr id="17" name="Group 3">
            <a:extLst>
              <a:ext uri="{FF2B5EF4-FFF2-40B4-BE49-F238E27FC236}">
                <a16:creationId xmlns:a16="http://schemas.microsoft.com/office/drawing/2014/main" id="{CA930F71-0A9A-E64C-C558-9774976DFB68}"/>
              </a:ext>
            </a:extLst>
          </p:cNvPr>
          <p:cNvGrpSpPr/>
          <p:nvPr/>
        </p:nvGrpSpPr>
        <p:grpSpPr>
          <a:xfrm rot="10800000" flipH="1">
            <a:off x="6932600" y="3881782"/>
            <a:ext cx="1765458" cy="940424"/>
            <a:chOff x="0" y="0"/>
            <a:chExt cx="4159440" cy="2311200"/>
          </a:xfrm>
          <a:solidFill>
            <a:srgbClr val="C00000"/>
          </a:solidFill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41F270E9-ED89-58EA-B683-3C33A820C174}"/>
                </a:ext>
              </a:extLst>
            </p:cNvPr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grpFill/>
          </p:spPr>
        </p:sp>
      </p:grpSp>
      <p:grpSp>
        <p:nvGrpSpPr>
          <p:cNvPr id="19" name="Group 3">
            <a:extLst>
              <a:ext uri="{FF2B5EF4-FFF2-40B4-BE49-F238E27FC236}">
                <a16:creationId xmlns:a16="http://schemas.microsoft.com/office/drawing/2014/main" id="{09173BE0-FD93-D963-F9D6-36973F787D8F}"/>
              </a:ext>
            </a:extLst>
          </p:cNvPr>
          <p:cNvGrpSpPr/>
          <p:nvPr/>
        </p:nvGrpSpPr>
        <p:grpSpPr>
          <a:xfrm>
            <a:off x="4918494" y="2473151"/>
            <a:ext cx="1765458" cy="940424"/>
            <a:chOff x="0" y="0"/>
            <a:chExt cx="4159440" cy="2311200"/>
          </a:xfrm>
          <a:solidFill>
            <a:srgbClr val="C0000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FB61414F-39EB-C54C-A883-8794AC40CB93}"/>
                </a:ext>
              </a:extLst>
            </p:cNvPr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grpFill/>
          </p:spPr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A462FE51-6160-B6DD-D086-1B83782EF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85" y="3171732"/>
            <a:ext cx="737554" cy="7375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05D3BA4-A1B5-CB9A-57C0-2E2BDF15A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871" y="3207671"/>
            <a:ext cx="737554" cy="73755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38013C-37AE-77E5-9A20-95BFCFE20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432" y="3232183"/>
            <a:ext cx="737554" cy="7375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3A0C7B3-CD25-47EE-1E38-DEDFCB7A9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929" y="3321780"/>
            <a:ext cx="737554" cy="73755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36E62E2-5849-B485-F51D-9F475F4DD807}"/>
              </a:ext>
            </a:extLst>
          </p:cNvPr>
          <p:cNvSpPr txBox="1"/>
          <p:nvPr/>
        </p:nvSpPr>
        <p:spPr>
          <a:xfrm>
            <a:off x="499307" y="4443626"/>
            <a:ext cx="1922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Crainte de perte d’anonymat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473530-13A4-20C7-1267-EA5E50733FE3}"/>
              </a:ext>
            </a:extLst>
          </p:cNvPr>
          <p:cNvSpPr txBox="1"/>
          <p:nvPr/>
        </p:nvSpPr>
        <p:spPr>
          <a:xfrm>
            <a:off x="4918016" y="4587038"/>
            <a:ext cx="192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Suivi peu clair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56EE0F-2ABB-8F11-2C75-C76A9F86779B}"/>
              </a:ext>
            </a:extLst>
          </p:cNvPr>
          <p:cNvSpPr txBox="1"/>
          <p:nvPr/>
        </p:nvSpPr>
        <p:spPr>
          <a:xfrm>
            <a:off x="2258980" y="1215414"/>
            <a:ext cx="272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Manque de structuration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AFFC7C-3852-8002-6CDF-FDB270295241}"/>
              </a:ext>
            </a:extLst>
          </p:cNvPr>
          <p:cNvSpPr txBox="1"/>
          <p:nvPr/>
        </p:nvSpPr>
        <p:spPr>
          <a:xfrm>
            <a:off x="6775839" y="1239925"/>
            <a:ext cx="192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Faible traçabilité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4969D8-485B-543B-45D0-EE5E4B258D58}"/>
              </a:ext>
            </a:extLst>
          </p:cNvPr>
          <p:cNvSpPr txBox="1"/>
          <p:nvPr/>
        </p:nvSpPr>
        <p:spPr>
          <a:xfrm>
            <a:off x="79090" y="5143872"/>
            <a:ext cx="27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employés hésitent à déclarer leurs réclamations.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54AC33-9216-C9FC-DC37-2E52DF11B059}"/>
              </a:ext>
            </a:extLst>
          </p:cNvPr>
          <p:cNvSpPr txBox="1"/>
          <p:nvPr/>
        </p:nvSpPr>
        <p:spPr>
          <a:xfrm>
            <a:off x="4296100" y="5003559"/>
            <a:ext cx="3165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l’avancement du traitement n’est pas transparent pour les collaborateurs.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394C32-BBA4-80B0-6972-784D4BC786D4}"/>
              </a:ext>
            </a:extLst>
          </p:cNvPr>
          <p:cNvSpPr txBox="1"/>
          <p:nvPr/>
        </p:nvSpPr>
        <p:spPr>
          <a:xfrm>
            <a:off x="6176802" y="1601810"/>
            <a:ext cx="3165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échanges papier ou email compliquent le suivi et réduisent l’efficacité.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B2797C-CFEE-CC73-DF57-E6794BB63EE6}"/>
              </a:ext>
            </a:extLst>
          </p:cNvPr>
          <p:cNvSpPr txBox="1"/>
          <p:nvPr/>
        </p:nvSpPr>
        <p:spPr>
          <a:xfrm>
            <a:off x="2344758" y="1613011"/>
            <a:ext cx="245786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dirty="0"/>
              <a:t>les signalements sont difficiles à analyser et à suivre.</a:t>
            </a:r>
          </a:p>
        </p:txBody>
      </p:sp>
    </p:spTree>
    <p:extLst>
      <p:ext uri="{BB962C8B-B14F-4D97-AF65-F5344CB8AC3E}">
        <p14:creationId xmlns:p14="http://schemas.microsoft.com/office/powerpoint/2010/main" val="675064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69122-CCDB-FFDC-22AA-C3782E445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>
            <a:extLst>
              <a:ext uri="{FF2B5EF4-FFF2-40B4-BE49-F238E27FC236}">
                <a16:creationId xmlns:a16="http://schemas.microsoft.com/office/drawing/2014/main" id="{9667FFF1-57B0-1C38-1386-48CB774CC00A}"/>
              </a:ext>
            </a:extLst>
          </p:cNvPr>
          <p:cNvSpPr txBox="1"/>
          <p:nvPr/>
        </p:nvSpPr>
        <p:spPr>
          <a:xfrm>
            <a:off x="487900" y="188640"/>
            <a:ext cx="408410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3  OBJECTIFS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4DCF2A18-9FEA-F743-20B7-1CDF26DE2C67}"/>
              </a:ext>
            </a:extLst>
          </p:cNvPr>
          <p:cNvSpPr/>
          <p:nvPr/>
        </p:nvSpPr>
        <p:spPr>
          <a:xfrm>
            <a:off x="3982962" y="2744924"/>
            <a:ext cx="1368152" cy="1368152"/>
          </a:xfrm>
          <a:prstGeom prst="flowChartConnector">
            <a:avLst/>
          </a:prstGeom>
          <a:solidFill>
            <a:schemeClr val="bg1"/>
          </a:solidFill>
          <a:ln>
            <a:noFill/>
          </a:ln>
          <a:effectLst>
            <a:outerShdw blurRad="292100" dist="76200" dir="9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C36F7F-0FB1-81B9-850E-9BF546D850C1}"/>
              </a:ext>
            </a:extLst>
          </p:cNvPr>
          <p:cNvSpPr/>
          <p:nvPr/>
        </p:nvSpPr>
        <p:spPr>
          <a:xfrm>
            <a:off x="3694930" y="2456892"/>
            <a:ext cx="1944216" cy="1944216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extBox 40">
            <a:extLst>
              <a:ext uri="{FF2B5EF4-FFF2-40B4-BE49-F238E27FC236}">
                <a16:creationId xmlns:a16="http://schemas.microsoft.com/office/drawing/2014/main" id="{D0DECBF1-1051-236B-9BD9-DE52D78FA6FD}"/>
              </a:ext>
            </a:extLst>
          </p:cNvPr>
          <p:cNvSpPr txBox="1"/>
          <p:nvPr/>
        </p:nvSpPr>
        <p:spPr>
          <a:xfrm>
            <a:off x="623342" y="1438321"/>
            <a:ext cx="2944458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spc="73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Garantir</a:t>
            </a:r>
            <a:r>
              <a:rPr lang="en-US" sz="1600" b="1" spc="73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un </a:t>
            </a:r>
            <a:r>
              <a:rPr lang="en-US" sz="1600" b="1" spc="73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anonymat</a:t>
            </a:r>
            <a:r>
              <a:rPr lang="en-US" sz="1600" b="1" spc="73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fort</a:t>
            </a:r>
            <a:r>
              <a:rPr lang="en-US" sz="1600" b="1" spc="73" dirty="0">
                <a:solidFill>
                  <a:srgbClr val="231F20"/>
                </a:solidFill>
                <a:ea typeface="Open Sauce Bold"/>
                <a:cs typeface="Times New Roman"/>
                <a:sym typeface="Open Sauce Bold"/>
              </a:rPr>
              <a:t> : </a:t>
            </a:r>
          </a:p>
          <a:p>
            <a:pPr algn="ctr"/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Assurer la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possibilité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pour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l’employé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de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déposer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une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réclamation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de manière anonyme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ou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non,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selon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son choix, tout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en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maintenant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l’identification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des suggestions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afin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d’encourager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une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expression libre et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transparente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7" name="TextBox 46">
            <a:extLst>
              <a:ext uri="{FF2B5EF4-FFF2-40B4-BE49-F238E27FC236}">
                <a16:creationId xmlns:a16="http://schemas.microsoft.com/office/drawing/2014/main" id="{F12BBC5F-242C-63C4-AD68-825BD68D113F}"/>
              </a:ext>
            </a:extLst>
          </p:cNvPr>
          <p:cNvSpPr txBox="1"/>
          <p:nvPr/>
        </p:nvSpPr>
        <p:spPr>
          <a:xfrm>
            <a:off x="5650338" y="1499893"/>
            <a:ext cx="331186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Faciliter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le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dépôt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et le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suivi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des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signalement</a:t>
            </a:r>
            <a:r>
              <a:rPr lang="en-US" sz="1600" b="1" spc="145" dirty="0">
                <a:solidFill>
                  <a:srgbClr val="231F20"/>
                </a:solidFill>
                <a:ea typeface="Calibri"/>
                <a:cs typeface="Calibri"/>
                <a:sym typeface="Open Sauce Bold"/>
              </a:rPr>
              <a:t> </a:t>
            </a:r>
            <a:r>
              <a:rPr lang="en-US" sz="1600" b="1" spc="145" dirty="0">
                <a:solidFill>
                  <a:srgbClr val="231F20"/>
                </a:solidFill>
                <a:ea typeface="Open Sauce Bold"/>
                <a:cs typeface="Times New Roman"/>
                <a:sym typeface="Open Sauce Bold"/>
              </a:rPr>
              <a:t>: </a:t>
            </a:r>
            <a:endParaRPr lang="fr-FR" sz="2400" b="1" dirty="0">
              <a:sym typeface="Open Sauce Bold"/>
            </a:endParaRPr>
          </a:p>
          <a:p>
            <a:pPr algn="ctr"/>
            <a:r>
              <a:rPr lang="fr-FR" sz="1200" dirty="0"/>
              <a:t>Dépôt et suivi simplifiés des </a:t>
            </a:r>
            <a:r>
              <a:rPr lang="fr-FR" sz="1200" dirty="0">
                <a:ea typeface="+mn-lt"/>
                <a:cs typeface="+mn-lt"/>
              </a:rPr>
              <a:t>signalement </a:t>
            </a:r>
            <a:r>
              <a:rPr lang="fr-FR" sz="1200" dirty="0"/>
              <a:t>via une interface intuitive et confidentielle.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8" name="TextBox 47">
            <a:extLst>
              <a:ext uri="{FF2B5EF4-FFF2-40B4-BE49-F238E27FC236}">
                <a16:creationId xmlns:a16="http://schemas.microsoft.com/office/drawing/2014/main" id="{C8BCD73E-AA5C-D28F-A24A-20481C8BFE3C}"/>
              </a:ext>
            </a:extLst>
          </p:cNvPr>
          <p:cNvSpPr txBox="1"/>
          <p:nvPr/>
        </p:nvSpPr>
        <p:spPr>
          <a:xfrm>
            <a:off x="555918" y="4395179"/>
            <a:ext cx="3070917" cy="890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Mettre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en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place un workflow RH</a:t>
            </a:r>
            <a:r>
              <a:rPr lang="en-US" sz="1600" b="1" spc="145" dirty="0">
                <a:solidFill>
                  <a:srgbClr val="231F20"/>
                </a:solidFill>
                <a:ea typeface="Open Sauce Bold"/>
                <a:cs typeface="Times New Roman"/>
                <a:sym typeface="Open Sauce Bold"/>
              </a:rPr>
              <a:t> : </a:t>
            </a:r>
            <a:endParaRPr lang="fr-FR" sz="1600" b="1" dirty="0">
              <a:ea typeface="Calibri"/>
              <a:cs typeface="Times New Roman"/>
              <a:sym typeface="Open Sauce Bold"/>
            </a:endParaRPr>
          </a:p>
          <a:p>
            <a:pPr algn="ctr"/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Structurer le processus de </a:t>
            </a:r>
            <a:r>
              <a:rPr lang="en-US" sz="1200" spc="145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traitement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des </a:t>
            </a:r>
            <a:r>
              <a:rPr lang="en-US" sz="1200" spc="145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signalements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.</a:t>
            </a:r>
            <a:endParaRPr lang="en-US" sz="1200" spc="145" dirty="0">
              <a:solidFill>
                <a:srgbClr val="231F20"/>
              </a:solidFill>
              <a:ea typeface="+mn-lt"/>
              <a:cs typeface="+mn-lt"/>
            </a:endParaRPr>
          </a:p>
        </p:txBody>
      </p:sp>
      <p:sp>
        <p:nvSpPr>
          <p:cNvPr id="20" name="TextBox 46">
            <a:extLst>
              <a:ext uri="{FF2B5EF4-FFF2-40B4-BE49-F238E27FC236}">
                <a16:creationId xmlns:a16="http://schemas.microsoft.com/office/drawing/2014/main" id="{5BD3AE45-9926-02DB-4E67-5094BCE84FB8}"/>
              </a:ext>
            </a:extLst>
          </p:cNvPr>
          <p:cNvSpPr txBox="1"/>
          <p:nvPr/>
        </p:nvSpPr>
        <p:spPr>
          <a:xfrm>
            <a:off x="5644700" y="4272917"/>
            <a:ext cx="3309980" cy="1046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Assurer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une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traçabilité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complète</a:t>
            </a:r>
            <a:r>
              <a:rPr lang="en-US" sz="1600" b="1" spc="145" dirty="0">
                <a:solidFill>
                  <a:srgbClr val="231F20"/>
                </a:solidFill>
                <a:ea typeface="Open Sauce Bold"/>
                <a:cs typeface="Times New Roman"/>
                <a:sym typeface="Open Sauce Bold"/>
              </a:rPr>
              <a:t> : </a:t>
            </a:r>
            <a:endParaRPr lang="fr-FR" sz="1600" b="1" dirty="0">
              <a:ea typeface="Calibri"/>
              <a:cs typeface="Calibri"/>
              <a:sym typeface="Open Sauce Bold"/>
            </a:endParaRPr>
          </a:p>
          <a:p>
            <a:pPr algn="ctr"/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Centraliser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les </a:t>
            </a:r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échanges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et les </a:t>
            </a:r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décisions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</a:t>
            </a:r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afin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de </a:t>
            </a:r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garantir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un </a:t>
            </a:r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historique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</a:t>
            </a:r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clair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et consultable.</a:t>
            </a:r>
            <a:endParaRPr lang="en-US" sz="1200" dirty="0">
              <a:ea typeface="+mn-lt"/>
              <a:cs typeface="+mn-lt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FE4A80D6-3083-2BE8-7C3E-4F6475D69C78}"/>
              </a:ext>
            </a:extLst>
          </p:cNvPr>
          <p:cNvSpPr/>
          <p:nvPr/>
        </p:nvSpPr>
        <p:spPr>
          <a:xfrm rot="5400000">
            <a:off x="2766945" y="1877860"/>
            <a:ext cx="1107996" cy="1096588"/>
          </a:xfrm>
          <a:prstGeom prst="arc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8135B428-BC93-2C56-FA14-B672157B8148}"/>
              </a:ext>
            </a:extLst>
          </p:cNvPr>
          <p:cNvSpPr/>
          <p:nvPr/>
        </p:nvSpPr>
        <p:spPr>
          <a:xfrm rot="16200000">
            <a:off x="5459135" y="3883551"/>
            <a:ext cx="1107996" cy="1096588"/>
          </a:xfrm>
          <a:prstGeom prst="arc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245C966-64D5-86F2-9A2C-D6E0B502B36E}"/>
              </a:ext>
            </a:extLst>
          </p:cNvPr>
          <p:cNvSpPr/>
          <p:nvPr/>
        </p:nvSpPr>
        <p:spPr>
          <a:xfrm rot="16200000" flipH="1">
            <a:off x="5459135" y="1871769"/>
            <a:ext cx="1107996" cy="1096588"/>
          </a:xfrm>
          <a:prstGeom prst="arc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33927D52-1D5E-701F-C01D-F64B8731AAD4}"/>
              </a:ext>
            </a:extLst>
          </p:cNvPr>
          <p:cNvSpPr/>
          <p:nvPr/>
        </p:nvSpPr>
        <p:spPr>
          <a:xfrm rot="5400000" flipH="1">
            <a:off x="2787379" y="3883552"/>
            <a:ext cx="1107996" cy="1096588"/>
          </a:xfrm>
          <a:prstGeom prst="arc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6234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46930-5A7D-08AA-A0AE-63A4EB05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7">
            <a:extLst>
              <a:ext uri="{FF2B5EF4-FFF2-40B4-BE49-F238E27FC236}">
                <a16:creationId xmlns:a16="http://schemas.microsoft.com/office/drawing/2014/main" id="{D148A89D-BF8C-9622-9A0C-29AFC1D45840}"/>
              </a:ext>
            </a:extLst>
          </p:cNvPr>
          <p:cNvSpPr/>
          <p:nvPr/>
        </p:nvSpPr>
        <p:spPr>
          <a:xfrm flipV="1">
            <a:off x="554448" y="1287409"/>
            <a:ext cx="4601895" cy="12799"/>
          </a:xfrm>
          <a:prstGeom prst="line">
            <a:avLst/>
          </a:prstGeom>
          <a:ln w="76200" cap="flat">
            <a:solidFill>
              <a:srgbClr val="8988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EB6B487-4847-E859-58F3-B8D26D156B6E}"/>
              </a:ext>
            </a:extLst>
          </p:cNvPr>
          <p:cNvSpPr txBox="1"/>
          <p:nvPr/>
        </p:nvSpPr>
        <p:spPr>
          <a:xfrm>
            <a:off x="539552" y="154996"/>
            <a:ext cx="408410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4  Solution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CFB9457-979A-4663-E8A9-D6CFD1C1412B}"/>
              </a:ext>
            </a:extLst>
          </p:cNvPr>
          <p:cNvSpPr txBox="1"/>
          <p:nvPr/>
        </p:nvSpPr>
        <p:spPr>
          <a:xfrm>
            <a:off x="546372" y="803486"/>
            <a:ext cx="4597425" cy="439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fr-FR" sz="1400" b="1" spc="89" dirty="0">
                <a:solidFill>
                  <a:srgbClr val="000000"/>
                </a:solidFill>
                <a:latin typeface="Times New Roman"/>
                <a:ea typeface="Open Sans Semi-Bold"/>
                <a:cs typeface="Times New Roman"/>
                <a:sym typeface="Open Sans Semi-Bold"/>
              </a:rPr>
              <a:t>Digitalisation RH </a:t>
            </a:r>
            <a:endParaRPr lang="fr-FR" sz="1400" b="1" spc="89" dirty="0">
              <a:solidFill>
                <a:srgbClr val="000000"/>
              </a:solidFill>
              <a:latin typeface="Times New Roman" panose="02020603050405020304" pitchFamily="18" charset="0"/>
              <a:ea typeface="Open Sans Semi-Bold"/>
              <a:cs typeface="Times New Roman" panose="02020603050405020304" pitchFamily="18" charset="0"/>
              <a:sym typeface="Open Sans Semi-Bold"/>
            </a:endParaRPr>
          </a:p>
          <a:p>
            <a:pPr>
              <a:lnSpc>
                <a:spcPts val="1680"/>
              </a:lnSpc>
            </a:pPr>
            <a:r>
              <a:rPr lang="fr-FR" sz="1400" b="1" spc="89" dirty="0">
                <a:solidFill>
                  <a:srgbClr val="000000"/>
                </a:solidFill>
                <a:latin typeface="Times New Roman"/>
                <a:ea typeface="Open Sans Semi-Bold"/>
                <a:cs typeface="Times New Roman"/>
                <a:sym typeface="Open Sans Semi-Bold"/>
              </a:rPr>
              <a:t>Module : Gestion des signalements</a:t>
            </a:r>
            <a:endParaRPr lang="fr-FR" sz="1400" b="1" spc="89" dirty="0">
              <a:solidFill>
                <a:srgbClr val="000000"/>
              </a:solidFill>
              <a:latin typeface="Times New Roman" panose="02020603050405020304" pitchFamily="18" charset="0"/>
              <a:ea typeface="Open Sans Semi-Bold"/>
              <a:cs typeface="Times New Roman" panose="02020603050405020304" pitchFamily="18" charset="0"/>
            </a:endParaRPr>
          </a:p>
        </p:txBody>
      </p:sp>
      <p:pic>
        <p:nvPicPr>
          <p:cNvPr id="6" name="Image 5" descr="Une image contenant symbole, clipart, blanc, croquis&#10;&#10;Le contenu généré par l’IA peut être incorrect.">
            <a:extLst>
              <a:ext uri="{FF2B5EF4-FFF2-40B4-BE49-F238E27FC236}">
                <a16:creationId xmlns:a16="http://schemas.microsoft.com/office/drawing/2014/main" id="{B3131E1E-A285-690E-B46D-69B4AFC6B3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3" t="1359" r="-761" b="4629"/>
          <a:stretch>
            <a:fillRect/>
          </a:stretch>
        </p:blipFill>
        <p:spPr>
          <a:xfrm>
            <a:off x="3942694" y="2652634"/>
            <a:ext cx="1558367" cy="156577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F0A93F-E7EF-B56F-1951-2F6EEE95FE37}"/>
              </a:ext>
            </a:extLst>
          </p:cNvPr>
          <p:cNvSpPr/>
          <p:nvPr/>
        </p:nvSpPr>
        <p:spPr>
          <a:xfrm>
            <a:off x="5296800" y="1797006"/>
            <a:ext cx="3686529" cy="1036693"/>
          </a:xfrm>
          <a:prstGeom prst="roundRect">
            <a:avLst>
              <a:gd name="adj" fmla="val 40281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56F9ED-B74A-189E-FE87-83E927A29006}"/>
              </a:ext>
            </a:extLst>
          </p:cNvPr>
          <p:cNvSpPr/>
          <p:nvPr/>
        </p:nvSpPr>
        <p:spPr>
          <a:xfrm>
            <a:off x="504598" y="1818712"/>
            <a:ext cx="3630799" cy="891821"/>
          </a:xfrm>
          <a:prstGeom prst="roundRect">
            <a:avLst>
              <a:gd name="adj" fmla="val 40281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9C305D-BC2D-E698-33A3-965CEE8BD05F}"/>
              </a:ext>
            </a:extLst>
          </p:cNvPr>
          <p:cNvSpPr txBox="1"/>
          <p:nvPr/>
        </p:nvSpPr>
        <p:spPr>
          <a:xfrm>
            <a:off x="940331" y="1874290"/>
            <a:ext cx="31950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Open Sans"/>
              </a:rPr>
              <a:t>Formulaire sécurisé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Open Sans"/>
              </a:rPr>
              <a:t> : Permet aux collaborateurs de soumettre des réclamations sans divulguer leur identité.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1258B5-7DB5-77A4-87E0-90DB377814BB}"/>
              </a:ext>
            </a:extLst>
          </p:cNvPr>
          <p:cNvSpPr txBox="1"/>
          <p:nvPr/>
        </p:nvSpPr>
        <p:spPr>
          <a:xfrm>
            <a:off x="5732534" y="1876449"/>
            <a:ext cx="3195065" cy="9572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ts val="1705"/>
              </a:lnSpc>
            </a:pPr>
            <a:r>
              <a:rPr lang="fr-FR" sz="1400" b="1" dirty="0">
                <a:solidFill>
                  <a:srgbClr val="000000"/>
                </a:solidFill>
                <a:ea typeface="+mn-lt"/>
                <a:cs typeface="+mn-lt"/>
              </a:rPr>
              <a:t>Gestion interne des signalements</a:t>
            </a:r>
            <a:r>
              <a:rPr lang="fr-FR" sz="1400" dirty="0">
                <a:solidFill>
                  <a:srgbClr val="000000"/>
                </a:solidFill>
                <a:ea typeface="+mn-lt"/>
                <a:cs typeface="+mn-lt"/>
              </a:rPr>
              <a:t>: Les responsables habilités peuvent facilement recevoir, traiter et suivre les </a:t>
            </a:r>
            <a:r>
              <a:rPr lang="fr-FR" sz="1400" b="1" dirty="0">
                <a:solidFill>
                  <a:srgbClr val="000000"/>
                </a:solidFill>
                <a:ea typeface="+mn-lt"/>
                <a:cs typeface="+mn-lt"/>
              </a:rPr>
              <a:t>signalements</a:t>
            </a:r>
            <a:r>
              <a:rPr lang="fr-FR" sz="140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fr-FR" sz="1400" dirty="0">
              <a:ea typeface="Calibri"/>
              <a:cs typeface="Calibri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630ED07-DE71-01DD-88D1-13F34303669B}"/>
              </a:ext>
            </a:extLst>
          </p:cNvPr>
          <p:cNvSpPr/>
          <p:nvPr/>
        </p:nvSpPr>
        <p:spPr>
          <a:xfrm>
            <a:off x="5394910" y="4015974"/>
            <a:ext cx="3631052" cy="971299"/>
          </a:xfrm>
          <a:prstGeom prst="roundRect">
            <a:avLst>
              <a:gd name="adj" fmla="val 40281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54B770-145A-BA9E-502B-5A0772D9E728}"/>
              </a:ext>
            </a:extLst>
          </p:cNvPr>
          <p:cNvSpPr txBox="1"/>
          <p:nvPr/>
        </p:nvSpPr>
        <p:spPr>
          <a:xfrm>
            <a:off x="5830896" y="4161018"/>
            <a:ext cx="3195065" cy="7392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ts val="1705"/>
              </a:lnSpc>
            </a:pPr>
            <a:r>
              <a:rPr lang="fr-FR" sz="1400" b="1" dirty="0">
                <a:solidFill>
                  <a:srgbClr val="000000"/>
                </a:solidFill>
                <a:ea typeface="+mn-lt"/>
                <a:cs typeface="+mn-lt"/>
              </a:rPr>
              <a:t>Suivi et traçabilité</a:t>
            </a:r>
            <a:r>
              <a:rPr lang="fr-FR" sz="1400">
                <a:solidFill>
                  <a:srgbClr val="000000"/>
                </a:solidFill>
                <a:ea typeface="+mn-lt"/>
                <a:cs typeface="+mn-lt"/>
              </a:rPr>
              <a:t> : Chaque signalement  </a:t>
            </a:r>
            <a:r>
              <a:rPr lang="fr-FR" sz="1400" dirty="0">
                <a:solidFill>
                  <a:srgbClr val="000000"/>
                </a:solidFill>
                <a:ea typeface="+mn-lt"/>
                <a:cs typeface="+mn-lt"/>
              </a:rPr>
              <a:t>bénéficie d’un suivi clair de son état   d’avancement .</a:t>
            </a:r>
            <a:endParaRPr lang="fr-FR" sz="1400" dirty="0">
              <a:ea typeface="Calibri"/>
              <a:cs typeface="Calibri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D5B0876-5711-CFBE-BA22-316762404D4D}"/>
              </a:ext>
            </a:extLst>
          </p:cNvPr>
          <p:cNvSpPr/>
          <p:nvPr/>
        </p:nvSpPr>
        <p:spPr>
          <a:xfrm>
            <a:off x="541280" y="4089948"/>
            <a:ext cx="3630799" cy="861710"/>
          </a:xfrm>
          <a:prstGeom prst="roundRect">
            <a:avLst>
              <a:gd name="adj" fmla="val 40281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82A1C2-A354-A1D4-6981-0334DCF7C2CE}"/>
              </a:ext>
            </a:extLst>
          </p:cNvPr>
          <p:cNvSpPr txBox="1"/>
          <p:nvPr/>
        </p:nvSpPr>
        <p:spPr>
          <a:xfrm>
            <a:off x="977014" y="4139572"/>
            <a:ext cx="31950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5"/>
              </a:lnSpc>
            </a:pPr>
            <a:r>
              <a:rPr lang="fr-FR" sz="1400" b="1" dirty="0">
                <a:ea typeface="+mn-lt"/>
                <a:cs typeface="+mn-lt"/>
              </a:rPr>
              <a:t>Intégration au système RH existant</a:t>
            </a:r>
            <a:r>
              <a:rPr lang="fr-FR" sz="1400" dirty="0">
                <a:ea typeface="+mn-lt"/>
                <a:cs typeface="+mn-lt"/>
              </a:rPr>
              <a:t> : Le module s’intègre facilement aux outils </a:t>
            </a:r>
          </a:p>
          <a:p>
            <a:pPr>
              <a:lnSpc>
                <a:spcPts val="1705"/>
              </a:lnSpc>
            </a:pPr>
            <a:r>
              <a:rPr lang="fr-FR" sz="1400" dirty="0">
                <a:ea typeface="+mn-lt"/>
                <a:cs typeface="+mn-lt"/>
              </a:rPr>
              <a:t>et processus RH en place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29" name="Image 7" descr="Une image contenant Graphique, capture d’écran, graphisme, ligne&#10;&#10;Le contenu généré par l’IA peut être incorrect.">
            <a:extLst>
              <a:ext uri="{FF2B5EF4-FFF2-40B4-BE49-F238E27FC236}">
                <a16:creationId xmlns:a16="http://schemas.microsoft.com/office/drawing/2014/main" id="{0F1F1E9F-3A41-2699-D8F9-C7B5346D3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73" y="1917454"/>
            <a:ext cx="282471" cy="290815"/>
          </a:xfrm>
          <a:prstGeom prst="rect">
            <a:avLst/>
          </a:prstGeom>
        </p:spPr>
      </p:pic>
      <p:pic>
        <p:nvPicPr>
          <p:cNvPr id="30" name="Image 7" descr="Une image contenant Graphique, capture d’écran, graphisme, ligne&#10;&#10;Le contenu généré par l’IA peut être incorrect.">
            <a:extLst>
              <a:ext uri="{FF2B5EF4-FFF2-40B4-BE49-F238E27FC236}">
                <a16:creationId xmlns:a16="http://schemas.microsoft.com/office/drawing/2014/main" id="{C5374201-C9CA-44E2-9AAF-6D069270C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24" y="4139572"/>
            <a:ext cx="282471" cy="290815"/>
          </a:xfrm>
          <a:prstGeom prst="rect">
            <a:avLst/>
          </a:prstGeom>
        </p:spPr>
      </p:pic>
      <p:pic>
        <p:nvPicPr>
          <p:cNvPr id="31" name="Image 7" descr="Une image contenant Graphique, capture d’écran, graphisme, ligne&#10;&#10;Le contenu généré par l’IA peut être incorrect.">
            <a:extLst>
              <a:ext uri="{FF2B5EF4-FFF2-40B4-BE49-F238E27FC236}">
                <a16:creationId xmlns:a16="http://schemas.microsoft.com/office/drawing/2014/main" id="{A3CC3684-9947-F18F-FD25-E767FE827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425" y="4146501"/>
            <a:ext cx="282471" cy="290815"/>
          </a:xfrm>
          <a:prstGeom prst="rect">
            <a:avLst/>
          </a:prstGeom>
        </p:spPr>
      </p:pic>
      <p:pic>
        <p:nvPicPr>
          <p:cNvPr id="32" name="Image 7" descr="Une image contenant Graphique, capture d’écran, graphisme, ligne&#10;&#10;Le contenu généré par l’IA peut être incorrect.">
            <a:extLst>
              <a:ext uri="{FF2B5EF4-FFF2-40B4-BE49-F238E27FC236}">
                <a16:creationId xmlns:a16="http://schemas.microsoft.com/office/drawing/2014/main" id="{4618BDD4-36B3-F3CE-9D20-ECAE7DC6F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842" y="1894186"/>
            <a:ext cx="282471" cy="29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33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7ACE010-FDE8-9B9D-BA5C-00DD614B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7785-9636-4CBD-960B-F0D3842C0ECB}" type="datetime1">
              <a:rPr lang="fr-FR"/>
              <a:t>12/12/2025</a:t>
            </a:fld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CE811B4-CAE9-C716-27C9-CF7199F85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4B5B027-2879-BE81-E2BA-D0646AC6365A}"/>
              </a:ext>
            </a:extLst>
          </p:cNvPr>
          <p:cNvSpPr>
            <a:spLocks noGrp="1"/>
          </p:cNvSpPr>
          <p:nvPr/>
        </p:nvSpPr>
        <p:spPr>
          <a:xfrm>
            <a:off x="1605077" y="2221086"/>
            <a:ext cx="4412526" cy="14913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r" defTabSz="914400" rtl="0" eaLnBrk="1" latinLnBrk="0" hangingPunct="1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 i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 algn="l"/>
            <a:r>
              <a:rPr lang="fr-FR" dirty="0">
                <a:solidFill>
                  <a:srgbClr val="C00000"/>
                </a:solidFill>
                <a:latin typeface="Times New Roman"/>
                <a:cs typeface="Times New Roman"/>
              </a:rPr>
              <a:t>5. </a:t>
            </a:r>
            <a:r>
              <a:rPr lang="fr-FR" dirty="0">
                <a:solidFill>
                  <a:srgbClr val="C00000"/>
                </a:solidFill>
                <a:latin typeface="Times New Roman"/>
                <a:ea typeface="+mj-lt"/>
                <a:cs typeface="Times New Roman"/>
              </a:rPr>
              <a:t>Architecture fonctionnelle</a:t>
            </a:r>
            <a:endParaRPr lang="fr-FR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BEA1A76-EE63-455B-B794-4578F94DE10B}"/>
              </a:ext>
            </a:extLst>
          </p:cNvPr>
          <p:cNvSpPr/>
          <p:nvPr/>
        </p:nvSpPr>
        <p:spPr>
          <a:xfrm>
            <a:off x="7201631" y="0"/>
            <a:ext cx="1942370" cy="6364090"/>
          </a:xfrm>
          <a:custGeom>
            <a:avLst/>
            <a:gdLst/>
            <a:ahLst/>
            <a:cxnLst/>
            <a:rect l="l" t="t" r="r" b="b"/>
            <a:pathLst>
              <a:path w="1661494" h="2709333">
                <a:moveTo>
                  <a:pt x="0" y="0"/>
                </a:moveTo>
                <a:lnTo>
                  <a:pt x="1661494" y="0"/>
                </a:lnTo>
                <a:lnTo>
                  <a:pt x="166149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D02F23"/>
          </a:solidFill>
        </p:spPr>
        <p:txBody>
          <a:bodyPr/>
          <a:lstStyle/>
          <a:p>
            <a:endParaRPr lang="fr-FR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854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677B1E53-D352-9CA1-46B4-DDA9E127A525}"/>
              </a:ext>
            </a:extLst>
          </p:cNvPr>
          <p:cNvGrpSpPr/>
          <p:nvPr/>
        </p:nvGrpSpPr>
        <p:grpSpPr>
          <a:xfrm>
            <a:off x="309632" y="-109098"/>
            <a:ext cx="2610738" cy="6552728"/>
            <a:chOff x="0" y="-47625"/>
            <a:chExt cx="1661494" cy="2756958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EDCBACD5-0359-AD5D-1170-C4D35817A88D}"/>
                </a:ext>
              </a:extLst>
            </p:cNvPr>
            <p:cNvSpPr/>
            <p:nvPr/>
          </p:nvSpPr>
          <p:spPr>
            <a:xfrm>
              <a:off x="0" y="0"/>
              <a:ext cx="1661494" cy="2709333"/>
            </a:xfrm>
            <a:custGeom>
              <a:avLst/>
              <a:gdLst/>
              <a:ahLst/>
              <a:cxnLst/>
              <a:rect l="l" t="t" r="r" b="b"/>
              <a:pathLst>
                <a:path w="1661494" h="2709333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fr-FR" sz="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E96B7892-D6D3-5B12-8927-31BA75668996}"/>
                </a:ext>
              </a:extLst>
            </p:cNvPr>
            <p:cNvSpPr txBox="1"/>
            <p:nvPr/>
          </p:nvSpPr>
          <p:spPr>
            <a:xfrm>
              <a:off x="0" y="-47625"/>
              <a:ext cx="1661493" cy="275695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40"/>
                </a:lnSpc>
              </a:pPr>
              <a:endParaRPr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5F1B879-9896-4749-20F8-04CEE1241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87D950C8-4773-62FD-301B-BBD748E7BB7F}"/>
              </a:ext>
            </a:extLst>
          </p:cNvPr>
          <p:cNvSpPr txBox="1"/>
          <p:nvPr/>
        </p:nvSpPr>
        <p:spPr>
          <a:xfrm>
            <a:off x="3000650" y="164724"/>
            <a:ext cx="5591887" cy="449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5-1  </a:t>
            </a:r>
            <a:r>
              <a:rPr lang="en-US" sz="2800" b="1" err="1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Acteurs</a:t>
            </a:r>
            <a:r>
              <a:rPr lang="en-US" sz="28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 et </a:t>
            </a:r>
            <a:r>
              <a:rPr lang="en-US" sz="2800" b="1" err="1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Utilisateurs</a:t>
            </a:r>
            <a:endParaRPr lang="en-US" sz="2800" b="1">
              <a:solidFill>
                <a:srgbClr val="C00000"/>
              </a:solidFill>
              <a:latin typeface="Times New Roman"/>
              <a:ea typeface="Inter Bold"/>
              <a:cs typeface="Times New Roman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E8C432E-5309-C2FF-9285-95D93CCA1245}"/>
              </a:ext>
            </a:extLst>
          </p:cNvPr>
          <p:cNvSpPr txBox="1"/>
          <p:nvPr/>
        </p:nvSpPr>
        <p:spPr>
          <a:xfrm>
            <a:off x="477071" y="1880590"/>
            <a:ext cx="22448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fr-FR" sz="2000" b="1" dirty="0"/>
              <a:t>Employé (User) :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D91E632-3908-4729-885E-B0E7C4777AC3}"/>
              </a:ext>
            </a:extLst>
          </p:cNvPr>
          <p:cNvSpPr txBox="1"/>
          <p:nvPr/>
        </p:nvSpPr>
        <p:spPr>
          <a:xfrm>
            <a:off x="3371333" y="1714893"/>
            <a:ext cx="5228152" cy="13515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Déposer un </a:t>
            </a:r>
            <a:r>
              <a:rPr lang="fr-FR" sz="1400" b="1" dirty="0">
                <a:ea typeface="+mn-lt"/>
                <a:cs typeface="+mn-lt"/>
              </a:rPr>
              <a:t>signalement</a:t>
            </a:r>
            <a:r>
              <a:rPr lang="fr-FR" sz="1400" dirty="0">
                <a:ea typeface="+mn-lt"/>
                <a:cs typeface="+mn-lt"/>
              </a:rPr>
              <a:t> (réclamation ou suggestion).</a:t>
            </a:r>
            <a:endParaRPr lang="fr-FR" sz="1400" dirty="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b="1" dirty="0">
                <a:ea typeface="+mn-lt"/>
                <a:cs typeface="+mn-lt"/>
              </a:rPr>
              <a:t>Suivre l’avancement</a:t>
            </a:r>
            <a:r>
              <a:rPr lang="fr-FR" sz="1400" dirty="0">
                <a:ea typeface="+mn-lt"/>
                <a:cs typeface="+mn-lt"/>
              </a:rPr>
              <a:t> du traitement de son signalement.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b="1" dirty="0">
                <a:ea typeface="+mn-lt"/>
                <a:cs typeface="+mn-lt"/>
              </a:rPr>
              <a:t>Consulter les retours</a:t>
            </a:r>
            <a:r>
              <a:rPr lang="fr-FR" sz="1400" dirty="0">
                <a:ea typeface="+mn-lt"/>
                <a:cs typeface="+mn-lt"/>
              </a:rPr>
              <a:t> ou les solutions proposées par le service RH.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C7CB450-045E-D19C-8223-36752388E675}"/>
              </a:ext>
            </a:extLst>
          </p:cNvPr>
          <p:cNvSpPr txBox="1"/>
          <p:nvPr/>
        </p:nvSpPr>
        <p:spPr>
          <a:xfrm>
            <a:off x="438159" y="4163482"/>
            <a:ext cx="247835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fr-FR" sz="2000" b="1" dirty="0">
                <a:ea typeface="+mn-lt"/>
                <a:cs typeface="+mn-lt"/>
              </a:rPr>
              <a:t>RH Gestionnaire</a:t>
            </a:r>
            <a:r>
              <a:rPr lang="fr-FR" sz="2000" b="1" dirty="0"/>
              <a:t> :</a:t>
            </a:r>
            <a:endParaRPr lang="fr-FR" sz="2000" b="1" dirty="0">
              <a:ea typeface="Calibri"/>
              <a:cs typeface="Calibri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AFB6D6E-99F9-FE23-7BCC-229E3985EA9D}"/>
              </a:ext>
            </a:extLst>
          </p:cNvPr>
          <p:cNvSpPr txBox="1"/>
          <p:nvPr/>
        </p:nvSpPr>
        <p:spPr>
          <a:xfrm>
            <a:off x="3371331" y="3874434"/>
            <a:ext cx="5704809" cy="13515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Gérer le référentiel des catégories et types de signalements. </a:t>
            </a:r>
            <a:endParaRPr lang="fr-FR" sz="1400" dirty="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Recevoir et analyser les signalements déposées.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b="1" dirty="0">
                <a:ea typeface="+mn-lt"/>
                <a:cs typeface="+mn-lt"/>
              </a:rPr>
              <a:t>Publier des réponses</a:t>
            </a:r>
            <a:r>
              <a:rPr lang="fr-FR" sz="1400" dirty="0">
                <a:ea typeface="+mn-lt"/>
                <a:cs typeface="+mn-lt"/>
              </a:rPr>
              <a:t> tout en respectant l’anonymat dans le cas des réclamations. </a:t>
            </a:r>
            <a:endParaRPr lang="fr-FR" sz="1400" dirty="0">
              <a:ea typeface="Calibri"/>
              <a:cs typeface="Calibri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BCEF2C1-76CA-98BC-C88C-15CFCF69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C0263-E372-7196-E60D-FE6B0E3E4FC1}"/>
              </a:ext>
            </a:extLst>
          </p:cNvPr>
          <p:cNvSpPr/>
          <p:nvPr/>
        </p:nvSpPr>
        <p:spPr>
          <a:xfrm>
            <a:off x="3375274" y="1713958"/>
            <a:ext cx="5333367" cy="13443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766986-8B10-9084-485A-4F0E2BA2980E}"/>
              </a:ext>
            </a:extLst>
          </p:cNvPr>
          <p:cNvSpPr/>
          <p:nvPr/>
        </p:nvSpPr>
        <p:spPr>
          <a:xfrm>
            <a:off x="3366129" y="3873499"/>
            <a:ext cx="5342510" cy="13515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201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1E73-2F1B-3E69-493F-92BA65CFD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F458D527-E4DA-3385-59AD-490B85CE1055}"/>
              </a:ext>
            </a:extLst>
          </p:cNvPr>
          <p:cNvSpPr/>
          <p:nvPr/>
        </p:nvSpPr>
        <p:spPr>
          <a:xfrm>
            <a:off x="309632" y="4097"/>
            <a:ext cx="3301401" cy="6439533"/>
          </a:xfrm>
          <a:custGeom>
            <a:avLst/>
            <a:gdLst/>
            <a:ahLst/>
            <a:cxnLst/>
            <a:rect l="l" t="t" r="r" b="b"/>
            <a:pathLst>
              <a:path w="1661494" h="2709333">
                <a:moveTo>
                  <a:pt x="0" y="0"/>
                </a:moveTo>
                <a:lnTo>
                  <a:pt x="1661494" y="0"/>
                </a:lnTo>
                <a:lnTo>
                  <a:pt x="1661494" y="2709333"/>
                </a:lnTo>
                <a:lnTo>
                  <a:pt x="0" y="2709333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endParaRPr lang="fr-FR" sz="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C5F62BF-3781-4903-4BF7-AF4D2683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41537-F990-4368-9E3F-37D39403ED7A}" type="datetime1">
              <a:rPr lang="fr-FR"/>
              <a:t>12/12/2025</a:t>
            </a:fld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938C51D-A5F9-9CF8-F544-9564F4EC9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23BFAECA-B168-8EBB-800F-F32584936072}"/>
              </a:ext>
            </a:extLst>
          </p:cNvPr>
          <p:cNvSpPr txBox="1"/>
          <p:nvPr/>
        </p:nvSpPr>
        <p:spPr>
          <a:xfrm>
            <a:off x="3671858" y="164724"/>
            <a:ext cx="5591887" cy="449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5-2   Les interfaces de </a:t>
            </a:r>
            <a:r>
              <a:rPr lang="en-US" sz="2800" b="1" dirty="0" err="1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l'application</a:t>
            </a:r>
            <a:endParaRPr lang="en-US" sz="2800" b="1" dirty="0" err="1">
              <a:solidFill>
                <a:srgbClr val="C00000"/>
              </a:solidFill>
              <a:latin typeface="Times New Roman"/>
              <a:ea typeface="Inter Bold"/>
              <a:cs typeface="Times New Roman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4EAAB8C-420B-6F36-9F33-B4E1F2A352A8}"/>
              </a:ext>
            </a:extLst>
          </p:cNvPr>
          <p:cNvSpPr txBox="1"/>
          <p:nvPr/>
        </p:nvSpPr>
        <p:spPr>
          <a:xfrm>
            <a:off x="360338" y="1267748"/>
            <a:ext cx="25075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fr-FR" b="1" dirty="0">
                <a:ea typeface="+mn-lt"/>
                <a:cs typeface="+mn-lt"/>
              </a:rPr>
              <a:t>Interface Utilisateur</a:t>
            </a:r>
            <a:r>
              <a:rPr lang="fr-FR" b="1" dirty="0"/>
              <a:t> :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6FD55BF-481C-5497-5E4E-E89BDAF01B0E}"/>
              </a:ext>
            </a:extLst>
          </p:cNvPr>
          <p:cNvSpPr txBox="1"/>
          <p:nvPr/>
        </p:nvSpPr>
        <p:spPr>
          <a:xfrm>
            <a:off x="3916081" y="975591"/>
            <a:ext cx="496550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liste de dépôt des signalements  (Description, type, catégorie,statut, date)</a:t>
            </a:r>
            <a:endParaRPr lang="fr-FR" sz="1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Formulaire de dépôt .</a:t>
            </a:r>
          </a:p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Filtre &amp; recherche.</a:t>
            </a:r>
            <a:endParaRPr lang="fr-FR" sz="1400" dirty="0">
              <a:ea typeface="Calibri"/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75A085D-0D5A-75DD-14EF-45E877052557}"/>
              </a:ext>
            </a:extLst>
          </p:cNvPr>
          <p:cNvSpPr txBox="1"/>
          <p:nvPr/>
        </p:nvSpPr>
        <p:spPr>
          <a:xfrm>
            <a:off x="311700" y="2636241"/>
            <a:ext cx="30231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fr-FR" b="1" dirty="0">
                <a:ea typeface="+mn-lt"/>
                <a:cs typeface="+mn-lt"/>
              </a:rPr>
              <a:t>Interface RH – Types: </a:t>
            </a:r>
            <a:endParaRPr lang="fr-FR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3BB51CB-F1A0-18EA-E0BB-4A75C024BE69}"/>
              </a:ext>
            </a:extLst>
          </p:cNvPr>
          <p:cNvSpPr txBox="1"/>
          <p:nvPr/>
        </p:nvSpPr>
        <p:spPr>
          <a:xfrm>
            <a:off x="3945263" y="2308279"/>
            <a:ext cx="3662001" cy="1028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liste des Types (nom, date, statut). </a:t>
            </a:r>
            <a:endParaRPr lang="fr-FR" dirty="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Gestion des Types </a:t>
            </a:r>
            <a:endParaRPr lang="fr-FR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Filtre &amp; recherche.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AF04A9F-0425-5F87-74DC-1F816B101661}"/>
              </a:ext>
            </a:extLst>
          </p:cNvPr>
          <p:cNvSpPr txBox="1"/>
          <p:nvPr/>
        </p:nvSpPr>
        <p:spPr>
          <a:xfrm>
            <a:off x="360337" y="5379439"/>
            <a:ext cx="35289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fr-FR" b="1" dirty="0">
                <a:ea typeface="+mn-lt"/>
                <a:cs typeface="+mn-lt"/>
              </a:rPr>
              <a:t>Interface RH – Signalements : </a:t>
            </a:r>
            <a:endParaRPr lang="fr-FR" b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4700140-D7F4-F8C9-EB02-3FD2DC55C2CD}"/>
              </a:ext>
            </a:extLst>
          </p:cNvPr>
          <p:cNvSpPr txBox="1"/>
          <p:nvPr/>
        </p:nvSpPr>
        <p:spPr>
          <a:xfrm>
            <a:off x="3945262" y="4973658"/>
            <a:ext cx="4877958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Tableau de bord (déposées, résolues). </a:t>
            </a:r>
            <a:endParaRPr lang="fr-F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Liste de toutes les signalements des employés (Description, type, catégorie, Créé par, statut, date). </a:t>
            </a:r>
            <a:endParaRPr lang="fr-F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Possibilité de visualiser un signalement et d’y répondre. </a:t>
            </a:r>
            <a:endParaRPr lang="fr-F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Filtre &amp; recherche.</a:t>
            </a:r>
            <a:endParaRPr lang="fr-FR">
              <a:ea typeface="+mn-lt"/>
              <a:cs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FB6E29-0A1E-D929-2632-E7F92CC21C20}"/>
              </a:ext>
            </a:extLst>
          </p:cNvPr>
          <p:cNvSpPr/>
          <p:nvPr/>
        </p:nvSpPr>
        <p:spPr>
          <a:xfrm>
            <a:off x="3774692" y="867651"/>
            <a:ext cx="5157686" cy="11764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E64492-DE7D-5412-7449-C2BEE9CFF1FB}"/>
              </a:ext>
            </a:extLst>
          </p:cNvPr>
          <p:cNvSpPr/>
          <p:nvPr/>
        </p:nvSpPr>
        <p:spPr>
          <a:xfrm>
            <a:off x="3794146" y="2307344"/>
            <a:ext cx="5167414" cy="103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F2BAFF-8F41-8E51-835A-66A9C99D5908}"/>
              </a:ext>
            </a:extLst>
          </p:cNvPr>
          <p:cNvSpPr/>
          <p:nvPr/>
        </p:nvSpPr>
        <p:spPr>
          <a:xfrm>
            <a:off x="3813602" y="4933811"/>
            <a:ext cx="5167413" cy="1254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8B123D5-91AF-79F2-DD19-EFF503F66768}"/>
              </a:ext>
            </a:extLst>
          </p:cNvPr>
          <p:cNvSpPr txBox="1"/>
          <p:nvPr/>
        </p:nvSpPr>
        <p:spPr>
          <a:xfrm>
            <a:off x="360337" y="4037023"/>
            <a:ext cx="30231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fr-FR" b="1" dirty="0">
                <a:ea typeface="+mn-lt"/>
                <a:cs typeface="+mn-lt"/>
              </a:rPr>
              <a:t>Interface RH – Catégories : </a:t>
            </a:r>
            <a:endParaRPr lang="fr-FR" b="1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A7AC9A4-16D9-18B6-475E-CB5E20F95AE2}"/>
              </a:ext>
            </a:extLst>
          </p:cNvPr>
          <p:cNvSpPr txBox="1"/>
          <p:nvPr/>
        </p:nvSpPr>
        <p:spPr>
          <a:xfrm>
            <a:off x="3945262" y="3592329"/>
            <a:ext cx="4897413" cy="1028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liste des Catégories (nom, type ,date, statut). </a:t>
            </a:r>
            <a:endParaRPr lang="fr-FR" dirty="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Gestion des catégories </a:t>
            </a:r>
            <a:endParaRPr lang="fr-FR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Filtre &amp; recherche.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CCE49-7517-41DA-B012-43585B736F8F}"/>
              </a:ext>
            </a:extLst>
          </p:cNvPr>
          <p:cNvSpPr/>
          <p:nvPr/>
        </p:nvSpPr>
        <p:spPr>
          <a:xfrm>
            <a:off x="3813600" y="3591394"/>
            <a:ext cx="5167414" cy="103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5237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26AA9FB-1B3C-2146-8D68-65F23D703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0B3-ACEC-41D8-9718-AFE67DBEBCBF}" type="datetime1">
              <a:rPr lang="fr-FR"/>
              <a:t>12/12/2025</a:t>
            </a:fld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3ABD477-323B-E3AA-0CA8-CF7B77B3E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A8E7DA9E-EFCD-5438-29D4-E101CD91A223}"/>
              </a:ext>
            </a:extLst>
          </p:cNvPr>
          <p:cNvSpPr txBox="1"/>
          <p:nvPr/>
        </p:nvSpPr>
        <p:spPr>
          <a:xfrm>
            <a:off x="539552" y="154996"/>
            <a:ext cx="5445973" cy="457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5-3   </a:t>
            </a:r>
            <a:r>
              <a:rPr lang="en-US" sz="2800" b="1" dirty="0">
                <a:solidFill>
                  <a:srgbClr val="C00000"/>
                </a:solidFill>
                <a:latin typeface="Times New Roman"/>
                <a:ea typeface="+mn-lt"/>
                <a:cs typeface="Times New Roman"/>
                <a:sym typeface="Inter Bold"/>
              </a:rPr>
              <a:t>processus de </a:t>
            </a:r>
            <a:r>
              <a:rPr lang="en-US" sz="2800" b="1" dirty="0" err="1">
                <a:solidFill>
                  <a:srgbClr val="C00000"/>
                </a:solidFill>
                <a:latin typeface="Times New Roman"/>
                <a:ea typeface="+mn-lt"/>
                <a:cs typeface="Times New Roman"/>
                <a:sym typeface="Inter Bold"/>
              </a:rPr>
              <a:t>fonctionnement</a:t>
            </a:r>
            <a:endParaRPr lang="en-US" sz="2800" b="1" dirty="0" err="1">
              <a:solidFill>
                <a:srgbClr val="C00000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69759F3-2EF2-23F9-7773-3B647978391B}"/>
              </a:ext>
            </a:extLst>
          </p:cNvPr>
          <p:cNvSpPr txBox="1"/>
          <p:nvPr/>
        </p:nvSpPr>
        <p:spPr>
          <a:xfrm>
            <a:off x="536713" y="2504661"/>
            <a:ext cx="36575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>
                <a:ea typeface="+mn-lt"/>
                <a:cs typeface="+mn-lt"/>
              </a:rPr>
              <a:t>Ce schéma illustre le processus de gestion d’une réclamation, depuis sa soumission jusqu’à son traitement.</a:t>
            </a:r>
          </a:p>
        </p:txBody>
      </p:sp>
      <p:pic>
        <p:nvPicPr>
          <p:cNvPr id="4" name="Image 3" descr="Une image contenant texte, diagramme, croquis, origami&#10;&#10;Le contenu généré par l’IA peut être incorrect.">
            <a:extLst>
              <a:ext uri="{FF2B5EF4-FFF2-40B4-BE49-F238E27FC236}">
                <a16:creationId xmlns:a16="http://schemas.microsoft.com/office/drawing/2014/main" id="{FF42A790-D1D7-E75E-AD88-271AF771B7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4" r="-2632" b="-2381"/>
          <a:stretch>
            <a:fillRect/>
          </a:stretch>
        </p:blipFill>
        <p:spPr>
          <a:xfrm>
            <a:off x="4310061" y="762736"/>
            <a:ext cx="4039916" cy="563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3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361C6-B7AB-6BAF-EC35-B8F0FFE26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A312B3DF-79B7-A625-6C2A-5741C747ACC7}"/>
              </a:ext>
            </a:extLst>
          </p:cNvPr>
          <p:cNvSpPr txBox="1">
            <a:spLocks/>
          </p:cNvSpPr>
          <p:nvPr/>
        </p:nvSpPr>
        <p:spPr>
          <a:xfrm>
            <a:off x="1115616" y="1628800"/>
            <a:ext cx="6912768" cy="2592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i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000" dirty="0">
                <a:solidFill>
                  <a:srgbClr val="C00000"/>
                </a:solidFill>
              </a:rPr>
              <a:t>MERCI </a:t>
            </a:r>
            <a:br>
              <a:rPr lang="fr-FR" sz="6000" dirty="0">
                <a:solidFill>
                  <a:srgbClr val="C00000"/>
                </a:solidFill>
              </a:rPr>
            </a:br>
            <a:r>
              <a:rPr lang="fr-FR" sz="6000" dirty="0">
                <a:solidFill>
                  <a:srgbClr val="C00000"/>
                </a:solidFill>
              </a:rPr>
              <a:t>DE </a:t>
            </a:r>
            <a:br>
              <a:rPr lang="fr-FR" sz="6000" dirty="0">
                <a:solidFill>
                  <a:srgbClr val="C00000"/>
                </a:solidFill>
              </a:rPr>
            </a:br>
            <a:r>
              <a:rPr lang="fr-FR" sz="6000" dirty="0">
                <a:solidFill>
                  <a:srgbClr val="C00000"/>
                </a:solidFill>
              </a:rPr>
              <a:t>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3940146192"/>
      </p:ext>
    </p:extLst>
  </p:cSld>
  <p:clrMapOvr>
    <a:masterClrMapping/>
  </p:clrMapOvr>
</p:sld>
</file>

<file path=ppt/theme/theme1.xml><?xml version="1.0" encoding="utf-8"?>
<a:theme xmlns:a="http://schemas.openxmlformats.org/drawingml/2006/main" name="4_Thème Office">
  <a:themeElements>
    <a:clrScheme name="Altrad">
      <a:dk1>
        <a:srgbClr val="000000"/>
      </a:dk1>
      <a:lt1>
        <a:srgbClr val="FFFFFF"/>
      </a:lt1>
      <a:dk2>
        <a:srgbClr val="2B3E57"/>
      </a:dk2>
      <a:lt2>
        <a:srgbClr val="385173"/>
      </a:lt2>
      <a:accent1>
        <a:srgbClr val="8FA7C8"/>
      </a:accent1>
      <a:accent2>
        <a:srgbClr val="BCCADE"/>
      </a:accent2>
      <a:accent3>
        <a:srgbClr val="404040"/>
      </a:accent3>
      <a:accent4>
        <a:srgbClr val="7F7F7F"/>
      </a:accent4>
      <a:accent5>
        <a:srgbClr val="D9D9D9"/>
      </a:accent5>
      <a:accent6>
        <a:srgbClr val="EAEAEA"/>
      </a:accent6>
      <a:hlink>
        <a:srgbClr val="FFC000"/>
      </a:hlink>
      <a:folHlink>
        <a:srgbClr val="F6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Thème Office">
  <a:themeElements>
    <a:clrScheme name="Altrad">
      <a:dk1>
        <a:srgbClr val="000000"/>
      </a:dk1>
      <a:lt1>
        <a:srgbClr val="FFFFFF"/>
      </a:lt1>
      <a:dk2>
        <a:srgbClr val="2B3E57"/>
      </a:dk2>
      <a:lt2>
        <a:srgbClr val="385173"/>
      </a:lt2>
      <a:accent1>
        <a:srgbClr val="8FA7C8"/>
      </a:accent1>
      <a:accent2>
        <a:srgbClr val="BCCADE"/>
      </a:accent2>
      <a:accent3>
        <a:srgbClr val="404040"/>
      </a:accent3>
      <a:accent4>
        <a:srgbClr val="7F7F7F"/>
      </a:accent4>
      <a:accent5>
        <a:srgbClr val="D9D9D9"/>
      </a:accent5>
      <a:accent6>
        <a:srgbClr val="EAEAEA"/>
      </a:accent6>
      <a:hlink>
        <a:srgbClr val="FFC000"/>
      </a:hlink>
      <a:folHlink>
        <a:srgbClr val="F6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Thème Office">
  <a:themeElements>
    <a:clrScheme name="Altrad">
      <a:dk1>
        <a:srgbClr val="000000"/>
      </a:dk1>
      <a:lt1>
        <a:srgbClr val="FFFFFF"/>
      </a:lt1>
      <a:dk2>
        <a:srgbClr val="2B3E57"/>
      </a:dk2>
      <a:lt2>
        <a:srgbClr val="385173"/>
      </a:lt2>
      <a:accent1>
        <a:srgbClr val="8FA7C8"/>
      </a:accent1>
      <a:accent2>
        <a:srgbClr val="BCCADE"/>
      </a:accent2>
      <a:accent3>
        <a:srgbClr val="404040"/>
      </a:accent3>
      <a:accent4>
        <a:srgbClr val="7F7F7F"/>
      </a:accent4>
      <a:accent5>
        <a:srgbClr val="D9D9D9"/>
      </a:accent5>
      <a:accent6>
        <a:srgbClr val="EAEAEA"/>
      </a:accent6>
      <a:hlink>
        <a:srgbClr val="FFC000"/>
      </a:hlink>
      <a:folHlink>
        <a:srgbClr val="FF212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45434</TotalTime>
  <Words>551</Words>
  <Application>Microsoft Office PowerPoint</Application>
  <PresentationFormat>Affichage à l'écran (4:3)</PresentationFormat>
  <Paragraphs>91</Paragraphs>
  <Slides>11</Slides>
  <Notes>5</Notes>
  <HiddenSlides>0</HiddenSlides>
  <MMClips>0</MMClips>
  <ScaleCrop>false</ScaleCrop>
  <HeadingPairs>
    <vt:vector size="4" baseType="variant">
      <vt:variant>
        <vt:lpstr>Thème</vt:lpstr>
      </vt:variant>
      <vt:variant>
        <vt:i4>3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4_Thème Office</vt:lpstr>
      <vt:lpstr>5_Thème Office</vt:lpstr>
      <vt:lpstr>3_Thème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 la fonta</dc:creator>
  <cp:lastModifiedBy>maroua boujdain</cp:lastModifiedBy>
  <cp:revision>2633</cp:revision>
  <cp:lastPrinted>2021-03-09T08:01:09Z</cp:lastPrinted>
  <dcterms:created xsi:type="dcterms:W3CDTF">2014-02-25T16:32:42Z</dcterms:created>
  <dcterms:modified xsi:type="dcterms:W3CDTF">2025-12-12T15:21:39Z</dcterms:modified>
</cp:coreProperties>
</file>